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000" b="1" i="0">
                <a:solidFill>
                  <a:srgbClr val="FFFFFF"/>
                </a:solidFill>
                <a:latin typeface="Lato"/>
              </a:rPr>
              <a:t>Pod 01: Hello, Terminal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267047" y="4023360"/>
            <a:ext cx="36576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9768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4A90D9"/>
                </a:solidFill>
                <a:latin typeface="Lato"/>
              </a:rPr>
              <a:t>Befriending the command line and your new AI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E0E0E0"/>
                </a:solidFill>
                <a:latin typeface="Lato"/>
              </a:rPr>
              <a:t>Week 1 | Date: Apr 6, 2026 | Duration: 60 min (30 lecture + 30 hands-on)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 You'll Learn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1: The Terminal Is Just a Text Box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If You Can Use Excel, You Can Use This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You type a formula into a cell: `=SUM(A1:A10)`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Excel reads your instruction and gives you a result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You didn't "program" anything — you just told the tool what you wanted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Warp?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Autocomplete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it guesses what you're trying to type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Visual blocks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each command and its result is grouped together</a:t>
            </a:r>
          </a:p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•  AI suggestions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it can explain commands in plain English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Your First Commands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728655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What you want to do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In File Explorer / Finder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Lato"/>
                        </a:defRPr>
                      </a:pPr>
                      <a:r>
                        <a:t>In the terminal</a:t>
                      </a:r>
                    </a:p>
                  </a:txBody>
                  <a:tcPr>
                    <a:solidFill>
                      <a:srgbClr val="1E2C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See what's in this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Open the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`ls`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into a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Double-click it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Where am I right now?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Look at the address bar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`pwd`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Create a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Right-click → New Folder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`mkdir folder-name`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Go up one folder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Click the back arrow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0E0E0"/>
                          </a:solidFill>
                          <a:latin typeface="Lato"/>
                        </a:defRPr>
                      </a:pPr>
                      <a:r>
                        <a:t>`cd ..`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First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2: Where Do Files Live?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Filing Cabinet Analogy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Why Not Work on the Desktop?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It gets messy fast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Things get synced to cloud storage unexpectedly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You can't find anything after a month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Claude Code has no idea where to look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Standard: `~/claude_projects/`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~/claude_projects/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my-first-project/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client-dashboard/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├── weekly-report-generator/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└── learning_pods/        ← this repo lives here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Standard: `~/claude_projects/`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3: Meet Claude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Claude Code?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Creates files and folders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Writes code (Python, HTML, whatever is needed)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Reads and edits existing files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Runs commands on your computer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Fixes its own mistakes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Your First Prompt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“"Create an HTML page that says Hello [your name] with a blue background and today's date"”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Your First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Think about what you asked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Create an `index.html` file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Tell you what it did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4: Setting Up a Project with `/init`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What Is a Project?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Using `/init`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/init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Using `/init`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Create a `CLAUDE.md` file in your project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Ask you a few questions about what the project is for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Set up sensible defaults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What Is CLAUDE.md?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 brief for a new contractor: "Here's what this project is about, here's how we do things, here are the rules"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 preferences file: "Always use dark theme, always write in plain English, never delete important files"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Your Starter CLAUDE.md  (markdown)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# My Project Name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## What This Project Does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[One sentence describing the project]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## Rules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Explain everything in plain English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Ask before deleting any files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Never run dangerous commands like rm -rf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Always commit work to git before making big changes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## Defaults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Use plain HTML + CSS for web pages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Use Python for data tasks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- Use a dark theme with Oren brand colors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Your Starter CLAUDE.md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5: The Permission Model — Why Claude Pauses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“"Allow Claude to run: `python analyze.py`? [Y/n]"”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Solution: Pre-Allow Safe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Running Python scripts: always fine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Creating and editing files: always fine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Running `git` commands: always fine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Running `npm` commands: always fine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`rm -rf` (delete everything): NEVER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`git push --force` (overwrite team's work): NEVER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Solution: Pre-Allow Safe Commands (cont.)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Any command that deletes without confirmation: NEVER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6: Essential Commands You'll Use Every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Ctrl+C — The Emergency Stop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/resume — Pick Up Where You Left Off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/resume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/resume — Pick Up Where You Left 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/context — What Does Claude See?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/context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/context — What Does Claude See?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/memory — What Claude Remembers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10911535" cy="4937760"/>
          </a:xfrm>
          <a:prstGeom prst="roundRect">
            <a:avLst>
              <a:gd name="adj" fmla="val 2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545775" cy="45720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0E0E0"/>
                </a:solidFill>
                <a:latin typeface="Consolas"/>
              </a:rPr>
              <a:t>/memory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/memory — What Claude Remembers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Part 7: The Waiting Game — Multitasking with Claude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The Reality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The Two-Tab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**Tab 1:** Give Claude a task. It starts working.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**Tab 2:** Open a new Warp tab. Start a new Claude session on a different task.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When Tab 1 finishes, you'll see the result waiting for you.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How to Know When Claude Is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Warp shows visual indicators when a command finishes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In Week 3, we'll set up </a:t>
            </a:r>
            <a:r>
              <a:rPr sz="1800" b="1" i="0">
                <a:solidFill>
                  <a:srgbClr val="4A90D9"/>
                </a:solidFill>
                <a:latin typeface="Lato"/>
              </a:rPr>
              <a:t>notification hooks</a:t>
            </a:r>
            <a:r>
              <a:rPr sz="1800" b="0" i="0">
                <a:solidFill>
                  <a:srgbClr val="E0E0E0"/>
                </a:solidFill>
                <a:latin typeface="Lato"/>
              </a:rPr>
              <a:t> — desktop alerts that ping you when Claude needs your attention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For now, just glance at your tabs periodically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Hands-On Exercises (30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1: Set Up Your Workspace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`mkdir ~/claude_projects`  — `cd ~/claude_projects`  — `pwd`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2: Your First Project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`mkdir my-first-project`  — `cd my-first-project`  — `claude`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“"Create an HTML page that says Hello [your name]. Use a dark background (#1a1a2e) and white text. Add today's date and a fun fact about sustainability."”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669280"/>
            <a:ext cx="101800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4A90D9"/>
                </a:solidFill>
                <a:latin typeface="Lato"/>
              </a:rPr>
              <a:t>“"Change the background to green and add a section about what I do at Oren"”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3: Build Something (10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In your Claude Code session, type: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the file in your browser (Claude will tell you the filename)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Now iterate — ask Claude: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Refresh your browser — see the changes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4: Set Up Permissions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E0E0E0"/>
                </a:solidFill>
                <a:latin typeface="Lato"/>
              </a:rPr>
              <a:t>•  Ask Claude: "Copy the file from ~/claude_projects/learning_pods/setup/sample-claude-md/starter.md to this project's CLAUDE.md"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Exercise 5: Practice the Essential Commands (5 min)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Ask Claude to do something: "Create a Python script that prints the numbers 1 to 100"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While it's working, press **Ctrl+C** to stop it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`/resume` — see how it picks up the conversation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`/context` — see what Claude currently knows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Type `/memory` — see what Claude has remembered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 i="0">
                <a:solidFill>
                  <a:srgbClr val="FFFFFF"/>
                </a:solidFill>
                <a:latin typeface="Lato"/>
              </a:rPr>
              <a:t>Bonus Exercise: Two Tabs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1447" y="1325880"/>
            <a:ext cx="18288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1.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Open a second Warp tab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2.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`cd ~/claude_projects/my-first-project`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3.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Start a new Claude session: `claude`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4.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Give it a different task: "Create a second HTML page called about.html with information about Oren"</a:t>
            </a:r>
          </a:p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4A90D9"/>
                </a:solidFill>
                <a:latin typeface="Lato"/>
              </a:rPr>
              <a:t>5.  </a:t>
            </a:r>
            <a:r>
              <a:rPr sz="1800" b="0" i="0">
                <a:solidFill>
                  <a:srgbClr val="E0E0E0"/>
                </a:solidFill>
                <a:latin typeface="Lato"/>
              </a:rPr>
              <a:t>Switch between tabs — you now have two builders working for you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Lato"/>
              </a:rPr>
              <a:t>Before Next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247" y="4114800"/>
            <a:ext cx="274320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