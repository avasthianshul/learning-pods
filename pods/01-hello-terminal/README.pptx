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304" r:id="rId52"/>
    <p:sldId id="305" r:id="rId53"/>
    <p:sldId id="306" r:id="rId54"/>
    <p:sldId id="307" r:id="rId55"/>
    <p:sldId id="308" r:id="rId56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presProps" Target="presProps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A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C3EE538-EC9F-49CF-A43D-D063322BF57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A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4298CE8-C8F7-424B-8651-DBF4CD4611A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A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564CB4D-3CCD-4DCB-B223-A174DCE5667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A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A6F6375-5C3E-436D-B072-C25A58601FF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A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FFBD051-6F04-486A-AA86-2E90A685201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A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5AC9F6E-366E-4BA0-92DB-F1886FC7F28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A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B3078D2-A2A5-4406-B0A9-6B02F529DAF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A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2285A3C-B9D9-418E-B3B1-A04C19F7FD3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A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1BF26A7-D8BE-40B0-B607-EFE028662FC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A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A8CD021-6786-4A95-8AF2-4E9358A946C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A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A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1F0768C-634B-4D8A-9BEF-9795B3A7993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A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1"/>
          <p:cNvSpPr/>
          <p:nvPr/>
        </p:nvSpPr>
        <p:spPr>
          <a:xfrm>
            <a:off x="914400" y="2011680"/>
            <a:ext cx="1036260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Pod 01: Hello, Terminal</a:t>
            </a:r>
            <a:endParaRPr lang="en-AE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Rectangle 2"/>
          <p:cNvSpPr/>
          <p:nvPr/>
        </p:nvSpPr>
        <p:spPr>
          <a:xfrm>
            <a:off x="4267080" y="4023360"/>
            <a:ext cx="36572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1371600" y="4297680"/>
            <a:ext cx="94482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0" i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Befriending the command line and your new AI builder</a:t>
            </a:r>
            <a:endParaRPr lang="en-AE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1371600" y="4572000"/>
            <a:ext cx="94482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Week 1 | Date: Apr 6, 2026 | Duration: 60 min (30 lecture + 30 hands-on)</a:t>
            </a:r>
            <a:endParaRPr lang="en-A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1"/>
          <p:cNvSpPr/>
          <p:nvPr/>
        </p:nvSpPr>
        <p:spPr>
          <a:xfrm>
            <a:off x="914400" y="2560320"/>
            <a:ext cx="10362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What You'll Learn Today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Rectangle 2"/>
          <p:cNvSpPr/>
          <p:nvPr/>
        </p:nvSpPr>
        <p:spPr>
          <a:xfrm>
            <a:off x="4724280" y="4114800"/>
            <a:ext cx="27428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914400" y="2560320"/>
            <a:ext cx="10362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Part 1: The Terminal Is Just a Text Box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4724280" y="4114800"/>
            <a:ext cx="27428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1"/>
          <p:cNvSpPr/>
          <p:nvPr/>
        </p:nvSpPr>
        <p:spPr>
          <a:xfrm>
            <a:off x="731520" y="365760"/>
            <a:ext cx="1072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If You Can Use Excel, You Can Use This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Rectangle 2"/>
          <p:cNvSpPr/>
          <p:nvPr/>
        </p:nvSpPr>
        <p:spPr>
          <a:xfrm>
            <a:off x="5181480" y="1325880"/>
            <a:ext cx="18284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3"/>
          <p:cNvSpPr/>
          <p:nvPr/>
        </p:nvSpPr>
        <p:spPr>
          <a:xfrm>
            <a:off x="731520" y="1645920"/>
            <a:ext cx="1072836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You type a formula into a cell: `=SUM(A1:A10)`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Excel reads your instruction and gives you a result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You didn't "program" anything — you just told the tool what you wanted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1"/>
          <p:cNvSpPr/>
          <p:nvPr/>
        </p:nvSpPr>
        <p:spPr>
          <a:xfrm>
            <a:off x="731520" y="365760"/>
            <a:ext cx="1072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What Is Warp?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Rectangle 2"/>
          <p:cNvSpPr/>
          <p:nvPr/>
        </p:nvSpPr>
        <p:spPr>
          <a:xfrm>
            <a:off x="5181480" y="1325880"/>
            <a:ext cx="18284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3"/>
          <p:cNvSpPr/>
          <p:nvPr/>
        </p:nvSpPr>
        <p:spPr>
          <a:xfrm>
            <a:off x="731520" y="1645920"/>
            <a:ext cx="1072836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•  Autocomplete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 — it guesses what you're trying to type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•  Visual blocks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 — each command and its result is grouped together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•  AI suggestions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 — it can explain commands in plain English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1"/>
          <p:cNvSpPr/>
          <p:nvPr/>
        </p:nvSpPr>
        <p:spPr>
          <a:xfrm>
            <a:off x="731520" y="365760"/>
            <a:ext cx="1072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Your First Commands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6" name="Table 2"/>
          <p:cNvGraphicFramePr/>
          <p:nvPr/>
        </p:nvGraphicFramePr>
        <p:xfrm>
          <a:off x="731520" y="1645920"/>
          <a:ext cx="10728360" cy="2561040"/>
        </p:xfrm>
        <a:graphic>
          <a:graphicData uri="http://schemas.openxmlformats.org/drawingml/2006/table">
            <a:tbl>
              <a:tblPr/>
              <a:tblGrid>
                <a:gridCol w="2682000"/>
                <a:gridCol w="2682000"/>
                <a:gridCol w="2682000"/>
                <a:gridCol w="2682000"/>
              </a:tblGrid>
              <a:tr h="4114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Lato"/>
                        </a:rPr>
                        <a:t>What you want to do</a:t>
                      </a:r>
                      <a:endParaRPr lang="en-AE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C5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Lato"/>
                        </a:rPr>
                        <a:t>In File Explorer / Finder</a:t>
                      </a:r>
                      <a:endParaRPr lang="en-AE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C5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Lato"/>
                        </a:rPr>
                        <a:t>In the terminal</a:t>
                      </a:r>
                      <a:endParaRPr lang="en-AE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C5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Lato"/>
                        </a:rPr>
                        <a:t>What it stands for</a:t>
                      </a:r>
                      <a:endParaRPr lang="en-AE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C56"/>
                    </a:solidFill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See what's in this folder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Open the folder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`ls`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**l**i**s**t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Go into a folder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Double-click it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`cd folder-name`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**c**hange **d**irectory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Where am I right now?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Look at the address bar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`pwd`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**p**rint **w**orking **d**irectory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Create a new folder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Right-click → New Folder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`mkdir folder-name`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**m**a**k**e **dir**ectory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Go up one folder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Click the back arrow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`cd ..`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E0E0E0"/>
                          </a:solidFill>
                          <a:effectLst/>
                          <a:uFillTx/>
                          <a:latin typeface="Lato"/>
                        </a:rPr>
                        <a:t>**c**hange **d**irectory to parent</a:t>
                      </a:r>
                      <a:endParaRPr lang="en-AE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Box 1"/>
          <p:cNvSpPr/>
          <p:nvPr/>
        </p:nvSpPr>
        <p:spPr>
          <a:xfrm>
            <a:off x="914400" y="2560320"/>
            <a:ext cx="10362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Your First Commands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Rectangle 2"/>
          <p:cNvSpPr/>
          <p:nvPr/>
        </p:nvSpPr>
        <p:spPr>
          <a:xfrm>
            <a:off x="4724280" y="4114800"/>
            <a:ext cx="27428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1"/>
          <p:cNvSpPr/>
          <p:nvPr/>
        </p:nvSpPr>
        <p:spPr>
          <a:xfrm>
            <a:off x="914400" y="2560320"/>
            <a:ext cx="10362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Part 2: Where Do Files Live?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Rectangle 2"/>
          <p:cNvSpPr/>
          <p:nvPr/>
        </p:nvSpPr>
        <p:spPr>
          <a:xfrm>
            <a:off x="4724280" y="4114800"/>
            <a:ext cx="27428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Box 1"/>
          <p:cNvSpPr/>
          <p:nvPr/>
        </p:nvSpPr>
        <p:spPr>
          <a:xfrm>
            <a:off x="914400" y="2560320"/>
            <a:ext cx="10362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The Filing Cabinet Analogy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Rectangle 2"/>
          <p:cNvSpPr/>
          <p:nvPr/>
        </p:nvSpPr>
        <p:spPr>
          <a:xfrm>
            <a:off x="4724280" y="4114800"/>
            <a:ext cx="27428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Box 1"/>
          <p:cNvSpPr/>
          <p:nvPr/>
        </p:nvSpPr>
        <p:spPr>
          <a:xfrm>
            <a:off x="731520" y="365760"/>
            <a:ext cx="1072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Why Not Work on the Desktop?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Rectangle 2"/>
          <p:cNvSpPr/>
          <p:nvPr/>
        </p:nvSpPr>
        <p:spPr>
          <a:xfrm>
            <a:off x="5181480" y="1325880"/>
            <a:ext cx="18284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3"/>
          <p:cNvSpPr/>
          <p:nvPr/>
        </p:nvSpPr>
        <p:spPr>
          <a:xfrm>
            <a:off x="731520" y="1645920"/>
            <a:ext cx="1072836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It gets messy fast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Things get synced to cloud storage unexpectedly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You can't find anything after a month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Claude Code has no idea where to look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Box 1"/>
          <p:cNvSpPr/>
          <p:nvPr/>
        </p:nvSpPr>
        <p:spPr>
          <a:xfrm>
            <a:off x="731520" y="365760"/>
            <a:ext cx="1072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The Standard: `~/claude_projects/`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Rounded Rectangle 2"/>
          <p:cNvSpPr/>
          <p:nvPr/>
        </p:nvSpPr>
        <p:spPr>
          <a:xfrm>
            <a:off x="640080" y="1463040"/>
            <a:ext cx="10911240" cy="493740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3"/>
          <p:cNvSpPr/>
          <p:nvPr/>
        </p:nvSpPr>
        <p:spPr>
          <a:xfrm>
            <a:off x="914400" y="1645920"/>
            <a:ext cx="1054548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~/claude_projects/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├── my-first-project/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├── client-dashboard/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├── weekly-report-generator/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└── learning_pods/        ← this repo lives here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Box 1"/>
          <p:cNvSpPr/>
          <p:nvPr/>
        </p:nvSpPr>
        <p:spPr>
          <a:xfrm>
            <a:off x="914400" y="2560320"/>
            <a:ext cx="10362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The Standard: `~/claude_projects/`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Rectangle 2"/>
          <p:cNvSpPr/>
          <p:nvPr/>
        </p:nvSpPr>
        <p:spPr>
          <a:xfrm>
            <a:off x="4724280" y="4114800"/>
            <a:ext cx="27428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Box 1"/>
          <p:cNvSpPr/>
          <p:nvPr/>
        </p:nvSpPr>
        <p:spPr>
          <a:xfrm>
            <a:off x="914400" y="2560320"/>
            <a:ext cx="10362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Part 3: Meet Claude Code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Rectangle 2"/>
          <p:cNvSpPr/>
          <p:nvPr/>
        </p:nvSpPr>
        <p:spPr>
          <a:xfrm>
            <a:off x="4724280" y="4114800"/>
            <a:ext cx="27428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Box 1"/>
          <p:cNvSpPr/>
          <p:nvPr/>
        </p:nvSpPr>
        <p:spPr>
          <a:xfrm>
            <a:off x="731520" y="365760"/>
            <a:ext cx="1072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What Is Claude Code?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Rectangle 2"/>
          <p:cNvSpPr/>
          <p:nvPr/>
        </p:nvSpPr>
        <p:spPr>
          <a:xfrm>
            <a:off x="5181480" y="1325880"/>
            <a:ext cx="18284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Box 3"/>
          <p:cNvSpPr/>
          <p:nvPr/>
        </p:nvSpPr>
        <p:spPr>
          <a:xfrm>
            <a:off x="731520" y="1645920"/>
            <a:ext cx="1072836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Creates files and folders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Writes code (Python, HTML, whatever is needed)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Reads and edits existing files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Runs commands on your computer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Fixes its own mistakes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Box 1"/>
          <p:cNvSpPr/>
          <p:nvPr/>
        </p:nvSpPr>
        <p:spPr>
          <a:xfrm>
            <a:off x="731520" y="365760"/>
            <a:ext cx="1072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Your First Prompt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Rounded Rectangle 2"/>
          <p:cNvSpPr/>
          <p:nvPr/>
        </p:nvSpPr>
        <p:spPr>
          <a:xfrm>
            <a:off x="640080" y="1463040"/>
            <a:ext cx="10911240" cy="493740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Box 3"/>
          <p:cNvSpPr/>
          <p:nvPr/>
        </p:nvSpPr>
        <p:spPr>
          <a:xfrm>
            <a:off x="914400" y="1645920"/>
            <a:ext cx="1054548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claude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4"/>
          <p:cNvSpPr/>
          <p:nvPr/>
        </p:nvSpPr>
        <p:spPr>
          <a:xfrm>
            <a:off x="1005840" y="5669280"/>
            <a:ext cx="1017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i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“"Create an HTML page that says Hello [your name] with a blue background and today's date"”</a:t>
            </a:r>
            <a:endParaRPr lang="en-A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Box 1"/>
          <p:cNvSpPr/>
          <p:nvPr/>
        </p:nvSpPr>
        <p:spPr>
          <a:xfrm>
            <a:off x="731520" y="365760"/>
            <a:ext cx="1072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Your First Prompt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Rectangle 2"/>
          <p:cNvSpPr/>
          <p:nvPr/>
        </p:nvSpPr>
        <p:spPr>
          <a:xfrm>
            <a:off x="5181480" y="1325880"/>
            <a:ext cx="18284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TextBox 3"/>
          <p:cNvSpPr/>
          <p:nvPr/>
        </p:nvSpPr>
        <p:spPr>
          <a:xfrm>
            <a:off x="731520" y="1645920"/>
            <a:ext cx="1072836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1.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Think about what you asked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2.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Create an `index.html` file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3.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Tell you what it did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Box 1"/>
          <p:cNvSpPr/>
          <p:nvPr/>
        </p:nvSpPr>
        <p:spPr>
          <a:xfrm>
            <a:off x="914400" y="2560320"/>
            <a:ext cx="10362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Part 4: Setting Up a Project with `/init`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Rectangle 2"/>
          <p:cNvSpPr/>
          <p:nvPr/>
        </p:nvSpPr>
        <p:spPr>
          <a:xfrm>
            <a:off x="4724280" y="4114800"/>
            <a:ext cx="27428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Box 1"/>
          <p:cNvSpPr/>
          <p:nvPr/>
        </p:nvSpPr>
        <p:spPr>
          <a:xfrm>
            <a:off x="914400" y="2560320"/>
            <a:ext cx="10362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What Is a Project?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Rectangle 2"/>
          <p:cNvSpPr/>
          <p:nvPr/>
        </p:nvSpPr>
        <p:spPr>
          <a:xfrm>
            <a:off x="4724280" y="4114800"/>
            <a:ext cx="27428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Box 1"/>
          <p:cNvSpPr/>
          <p:nvPr/>
        </p:nvSpPr>
        <p:spPr>
          <a:xfrm>
            <a:off x="731520" y="365760"/>
            <a:ext cx="1072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Using `/init`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Rounded Rectangle 2"/>
          <p:cNvSpPr/>
          <p:nvPr/>
        </p:nvSpPr>
        <p:spPr>
          <a:xfrm>
            <a:off x="640080" y="1463040"/>
            <a:ext cx="10911240" cy="493740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Box 3"/>
          <p:cNvSpPr/>
          <p:nvPr/>
        </p:nvSpPr>
        <p:spPr>
          <a:xfrm>
            <a:off x="914400" y="1645920"/>
            <a:ext cx="1054548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/init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extBox 1"/>
          <p:cNvSpPr/>
          <p:nvPr/>
        </p:nvSpPr>
        <p:spPr>
          <a:xfrm>
            <a:off x="731520" y="365760"/>
            <a:ext cx="1072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Using `/init`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Rectangle 2"/>
          <p:cNvSpPr/>
          <p:nvPr/>
        </p:nvSpPr>
        <p:spPr>
          <a:xfrm>
            <a:off x="5181480" y="1325880"/>
            <a:ext cx="18284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3"/>
          <p:cNvSpPr/>
          <p:nvPr/>
        </p:nvSpPr>
        <p:spPr>
          <a:xfrm>
            <a:off x="731520" y="1645920"/>
            <a:ext cx="1072836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Create a `CLAUDE.md` file in your project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Ask you a few questions about what the project is for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Set up sensible defaults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Box 1"/>
          <p:cNvSpPr/>
          <p:nvPr/>
        </p:nvSpPr>
        <p:spPr>
          <a:xfrm>
            <a:off x="731520" y="365760"/>
            <a:ext cx="1072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What Is CLAUDE.md?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Rectangle 2"/>
          <p:cNvSpPr/>
          <p:nvPr/>
        </p:nvSpPr>
        <p:spPr>
          <a:xfrm>
            <a:off x="5181480" y="1325880"/>
            <a:ext cx="18284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3"/>
          <p:cNvSpPr/>
          <p:nvPr/>
        </p:nvSpPr>
        <p:spPr>
          <a:xfrm>
            <a:off x="731520" y="1645920"/>
            <a:ext cx="1072836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A brief for a new contractor: "Here's what this project is about, here's how we do things, here are the rules"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A preferences file: "Always use dark theme, always write in plain English, never delete important files"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TextBox 1"/>
          <p:cNvSpPr/>
          <p:nvPr/>
        </p:nvSpPr>
        <p:spPr>
          <a:xfrm>
            <a:off x="731520" y="365760"/>
            <a:ext cx="1072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Your Starter CLAUDE.md  (markdown)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Rounded Rectangle 2"/>
          <p:cNvSpPr/>
          <p:nvPr/>
        </p:nvSpPr>
        <p:spPr>
          <a:xfrm>
            <a:off x="640080" y="1463040"/>
            <a:ext cx="10911240" cy="493740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TextBox 3"/>
          <p:cNvSpPr/>
          <p:nvPr/>
        </p:nvSpPr>
        <p:spPr>
          <a:xfrm>
            <a:off x="914400" y="1645920"/>
            <a:ext cx="1054548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# My Project Name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## What This Project Does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[One sentence describing the project]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## Rules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- Explain everything in plain English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- Ask before deleting any files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- Never run dangerous commands like rm -rf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- Always commit work to git before making big changes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## Defaults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- Use plain HTML + CSS for web pages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- Use Python for data tasks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- Use a dark theme with Oren brand colors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Box 1"/>
          <p:cNvSpPr/>
          <p:nvPr/>
        </p:nvSpPr>
        <p:spPr>
          <a:xfrm>
            <a:off x="914400" y="2560320"/>
            <a:ext cx="10362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Your Starter CLAUDE.md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Rectangle 2"/>
          <p:cNvSpPr/>
          <p:nvPr/>
        </p:nvSpPr>
        <p:spPr>
          <a:xfrm>
            <a:off x="4724280" y="4114800"/>
            <a:ext cx="27428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Box 1"/>
          <p:cNvSpPr/>
          <p:nvPr/>
        </p:nvSpPr>
        <p:spPr>
          <a:xfrm>
            <a:off x="914400" y="2560320"/>
            <a:ext cx="10362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Part 5: The Permission Model — Why Claude Pauses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Rectangle 2"/>
          <p:cNvSpPr/>
          <p:nvPr/>
        </p:nvSpPr>
        <p:spPr>
          <a:xfrm>
            <a:off x="4724280" y="4114800"/>
            <a:ext cx="27428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Box 3"/>
          <p:cNvSpPr/>
          <p:nvPr/>
        </p:nvSpPr>
        <p:spPr>
          <a:xfrm>
            <a:off x="1005840" y="5669280"/>
            <a:ext cx="1017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i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“"Allow Claude to run: `python analyze.py`? [Y/n]"”</a:t>
            </a:r>
            <a:endParaRPr lang="en-A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Box 1"/>
          <p:cNvSpPr/>
          <p:nvPr/>
        </p:nvSpPr>
        <p:spPr>
          <a:xfrm>
            <a:off x="914400" y="2560320"/>
            <a:ext cx="10362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The Problem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Rectangle 2"/>
          <p:cNvSpPr/>
          <p:nvPr/>
        </p:nvSpPr>
        <p:spPr>
          <a:xfrm>
            <a:off x="4724280" y="4114800"/>
            <a:ext cx="27428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extBox 1"/>
          <p:cNvSpPr/>
          <p:nvPr/>
        </p:nvSpPr>
        <p:spPr>
          <a:xfrm>
            <a:off x="731520" y="365760"/>
            <a:ext cx="1072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The Solution: Pre-Allow Safe Commands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Rectangle 2"/>
          <p:cNvSpPr/>
          <p:nvPr/>
        </p:nvSpPr>
        <p:spPr>
          <a:xfrm>
            <a:off x="5181480" y="1325880"/>
            <a:ext cx="18284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TextBox 3"/>
          <p:cNvSpPr/>
          <p:nvPr/>
        </p:nvSpPr>
        <p:spPr>
          <a:xfrm>
            <a:off x="731520" y="1645920"/>
            <a:ext cx="1072836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Running Python scripts: always fine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Creating and editing files: always fine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Running `git` commands: always fine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Running `npm` commands: always fine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`rm -rf` (delete everything): NEVER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`git push --force` (overwrite team's work): NEVER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Box 1"/>
          <p:cNvSpPr/>
          <p:nvPr/>
        </p:nvSpPr>
        <p:spPr>
          <a:xfrm>
            <a:off x="731520" y="365760"/>
            <a:ext cx="1072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The Solution: Pre-Allow Safe Commands (cont.)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Rectangle 2"/>
          <p:cNvSpPr/>
          <p:nvPr/>
        </p:nvSpPr>
        <p:spPr>
          <a:xfrm>
            <a:off x="5181480" y="1325880"/>
            <a:ext cx="18284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" name="TextBox 3"/>
          <p:cNvSpPr/>
          <p:nvPr/>
        </p:nvSpPr>
        <p:spPr>
          <a:xfrm>
            <a:off x="731520" y="1645920"/>
            <a:ext cx="1072836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Any command that deletes without confirmation: NEVER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extBox 1"/>
          <p:cNvSpPr/>
          <p:nvPr/>
        </p:nvSpPr>
        <p:spPr>
          <a:xfrm>
            <a:off x="914400" y="2560320"/>
            <a:ext cx="10362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Part 6: Essential Commands You'll Use Every Day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Rectangle 2"/>
          <p:cNvSpPr/>
          <p:nvPr/>
        </p:nvSpPr>
        <p:spPr>
          <a:xfrm>
            <a:off x="4724280" y="4114800"/>
            <a:ext cx="27428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Box 1"/>
          <p:cNvSpPr/>
          <p:nvPr/>
        </p:nvSpPr>
        <p:spPr>
          <a:xfrm>
            <a:off x="914400" y="2560320"/>
            <a:ext cx="10362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Ctrl+C — The Emergency Stop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Rectangle 2"/>
          <p:cNvSpPr/>
          <p:nvPr/>
        </p:nvSpPr>
        <p:spPr>
          <a:xfrm>
            <a:off x="4724280" y="4114800"/>
            <a:ext cx="27428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extBox 1"/>
          <p:cNvSpPr/>
          <p:nvPr/>
        </p:nvSpPr>
        <p:spPr>
          <a:xfrm>
            <a:off x="731520" y="365760"/>
            <a:ext cx="1072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/resume — Pick Up Where You Left Off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Rounded Rectangle 2"/>
          <p:cNvSpPr/>
          <p:nvPr/>
        </p:nvSpPr>
        <p:spPr>
          <a:xfrm>
            <a:off x="640080" y="1463040"/>
            <a:ext cx="10911240" cy="493740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Box 3"/>
          <p:cNvSpPr/>
          <p:nvPr/>
        </p:nvSpPr>
        <p:spPr>
          <a:xfrm>
            <a:off x="914400" y="1645920"/>
            <a:ext cx="1054548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/resume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extBox 1"/>
          <p:cNvSpPr/>
          <p:nvPr/>
        </p:nvSpPr>
        <p:spPr>
          <a:xfrm>
            <a:off x="914400" y="2560320"/>
            <a:ext cx="10362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/resume — Pick Up Where You Left Off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Rectangle 2"/>
          <p:cNvSpPr/>
          <p:nvPr/>
        </p:nvSpPr>
        <p:spPr>
          <a:xfrm>
            <a:off x="4724280" y="4114800"/>
            <a:ext cx="27428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"/>
          <p:cNvSpPr/>
          <p:nvPr/>
        </p:nvSpPr>
        <p:spPr>
          <a:xfrm>
            <a:off x="731520" y="365760"/>
            <a:ext cx="1072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/context — What Does Claude See?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Rounded Rectangle 2"/>
          <p:cNvSpPr/>
          <p:nvPr/>
        </p:nvSpPr>
        <p:spPr>
          <a:xfrm>
            <a:off x="640080" y="1463040"/>
            <a:ext cx="10911240" cy="493740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3" name="TextBox 3"/>
          <p:cNvSpPr/>
          <p:nvPr/>
        </p:nvSpPr>
        <p:spPr>
          <a:xfrm>
            <a:off x="914400" y="1645920"/>
            <a:ext cx="1054548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/context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extBox 1"/>
          <p:cNvSpPr/>
          <p:nvPr/>
        </p:nvSpPr>
        <p:spPr>
          <a:xfrm>
            <a:off x="914400" y="2560320"/>
            <a:ext cx="10362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/context — What Does Claude See?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Rectangle 2"/>
          <p:cNvSpPr/>
          <p:nvPr/>
        </p:nvSpPr>
        <p:spPr>
          <a:xfrm>
            <a:off x="4724280" y="4114800"/>
            <a:ext cx="27428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TextBox 1"/>
          <p:cNvSpPr/>
          <p:nvPr/>
        </p:nvSpPr>
        <p:spPr>
          <a:xfrm>
            <a:off x="731520" y="365760"/>
            <a:ext cx="1072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/memory — What Claude Remembers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Rounded Rectangle 2"/>
          <p:cNvSpPr/>
          <p:nvPr/>
        </p:nvSpPr>
        <p:spPr>
          <a:xfrm>
            <a:off x="640080" y="1463040"/>
            <a:ext cx="10911240" cy="493740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Box 3"/>
          <p:cNvSpPr/>
          <p:nvPr/>
        </p:nvSpPr>
        <p:spPr>
          <a:xfrm>
            <a:off x="914400" y="1645920"/>
            <a:ext cx="1054548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E0E0E0"/>
                </a:solidFill>
                <a:effectLst/>
                <a:uFillTx/>
                <a:latin typeface="Consolas"/>
              </a:rPr>
              <a:t>/memory</a:t>
            </a:r>
            <a:endParaRPr lang="en-A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Box 1"/>
          <p:cNvSpPr/>
          <p:nvPr/>
        </p:nvSpPr>
        <p:spPr>
          <a:xfrm>
            <a:off x="914400" y="2560320"/>
            <a:ext cx="10362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/memory — What Claude Remembers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Rectangle 2"/>
          <p:cNvSpPr/>
          <p:nvPr/>
        </p:nvSpPr>
        <p:spPr>
          <a:xfrm>
            <a:off x="4724280" y="4114800"/>
            <a:ext cx="27428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extBox 1"/>
          <p:cNvSpPr/>
          <p:nvPr/>
        </p:nvSpPr>
        <p:spPr>
          <a:xfrm>
            <a:off x="914400" y="2560320"/>
            <a:ext cx="10362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Part 7: The Waiting Game — Multitasking with Claude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Rectangle 2"/>
          <p:cNvSpPr/>
          <p:nvPr/>
        </p:nvSpPr>
        <p:spPr>
          <a:xfrm>
            <a:off x="4724280" y="4114800"/>
            <a:ext cx="27428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Box 1"/>
          <p:cNvSpPr/>
          <p:nvPr/>
        </p:nvSpPr>
        <p:spPr>
          <a:xfrm>
            <a:off x="914400" y="2560320"/>
            <a:ext cx="10362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The Reality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Rectangle 2"/>
          <p:cNvSpPr/>
          <p:nvPr/>
        </p:nvSpPr>
        <p:spPr>
          <a:xfrm>
            <a:off x="4724280" y="4114800"/>
            <a:ext cx="27428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TextBox 1"/>
          <p:cNvSpPr/>
          <p:nvPr/>
        </p:nvSpPr>
        <p:spPr>
          <a:xfrm>
            <a:off x="731520" y="365760"/>
            <a:ext cx="1072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The Two-Tab Strategy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Rectangle 2"/>
          <p:cNvSpPr/>
          <p:nvPr/>
        </p:nvSpPr>
        <p:spPr>
          <a:xfrm>
            <a:off x="5181480" y="1325880"/>
            <a:ext cx="18284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7" name="TextBox 3"/>
          <p:cNvSpPr/>
          <p:nvPr/>
        </p:nvSpPr>
        <p:spPr>
          <a:xfrm>
            <a:off x="731520" y="1645920"/>
            <a:ext cx="1072836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1.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**Tab 1:** Give Claude a task. It starts working.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2.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**Tab 2:** Open a new Warp tab. Start a new Claude session on a different task.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3.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When Tab 1 finishes, you'll see the result waiting for you.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Box 1"/>
          <p:cNvSpPr/>
          <p:nvPr/>
        </p:nvSpPr>
        <p:spPr>
          <a:xfrm>
            <a:off x="731520" y="365760"/>
            <a:ext cx="1072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How to Know When Claude Is Done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Rectangle 2"/>
          <p:cNvSpPr/>
          <p:nvPr/>
        </p:nvSpPr>
        <p:spPr>
          <a:xfrm>
            <a:off x="5181480" y="1325880"/>
            <a:ext cx="18284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Box 3"/>
          <p:cNvSpPr/>
          <p:nvPr/>
        </p:nvSpPr>
        <p:spPr>
          <a:xfrm>
            <a:off x="731520" y="1645920"/>
            <a:ext cx="1072836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Warp shows visual indicators when a command finishes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You can also ask Claude to notify you with a ping whenever it’s done with a task (try it!)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But often, my laptop is on mute and I just glance through all my tabs periodically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extBox 1"/>
          <p:cNvSpPr/>
          <p:nvPr/>
        </p:nvSpPr>
        <p:spPr>
          <a:xfrm>
            <a:off x="914400" y="2560320"/>
            <a:ext cx="10362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Hands-On Exercises (30 min)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Rectangle 2"/>
          <p:cNvSpPr/>
          <p:nvPr/>
        </p:nvSpPr>
        <p:spPr>
          <a:xfrm>
            <a:off x="4724280" y="4114800"/>
            <a:ext cx="27428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TextBox 1"/>
          <p:cNvSpPr/>
          <p:nvPr/>
        </p:nvSpPr>
        <p:spPr>
          <a:xfrm>
            <a:off x="731520" y="365760"/>
            <a:ext cx="1072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Exercise 1: Set Up Your Workspace (5 min)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Rectangle 2"/>
          <p:cNvSpPr/>
          <p:nvPr/>
        </p:nvSpPr>
        <p:spPr>
          <a:xfrm>
            <a:off x="5181480" y="1325880"/>
            <a:ext cx="18284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Box 3"/>
          <p:cNvSpPr/>
          <p:nvPr/>
        </p:nvSpPr>
        <p:spPr>
          <a:xfrm>
            <a:off x="731520" y="1645920"/>
            <a:ext cx="1072836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`mkdir ~/claude_projects`  — `cd ~/claude_projects`  — `pwd`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TextBox 1"/>
          <p:cNvSpPr/>
          <p:nvPr/>
        </p:nvSpPr>
        <p:spPr>
          <a:xfrm>
            <a:off x="731520" y="365760"/>
            <a:ext cx="1072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Exercise 2: Your First Project (5 min)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Rectangle 2"/>
          <p:cNvSpPr/>
          <p:nvPr/>
        </p:nvSpPr>
        <p:spPr>
          <a:xfrm>
            <a:off x="5181480" y="1325880"/>
            <a:ext cx="18284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" name="TextBox 3"/>
          <p:cNvSpPr/>
          <p:nvPr/>
        </p:nvSpPr>
        <p:spPr>
          <a:xfrm>
            <a:off x="731520" y="1645920"/>
            <a:ext cx="1072836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`mkdir my-first-project`  — `cd my-first-project`  — `claude`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4"/>
          <p:cNvSpPr/>
          <p:nvPr/>
        </p:nvSpPr>
        <p:spPr>
          <a:xfrm>
            <a:off x="1005840" y="5669280"/>
            <a:ext cx="1017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i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“"Create an HTML page that says Hello [your name]. Use a dark background (#1a1a2e) and white text. Add today's date and a fun fact about sustainability."”</a:t>
            </a:r>
            <a:endParaRPr lang="en-A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5"/>
          <p:cNvSpPr/>
          <p:nvPr/>
        </p:nvSpPr>
        <p:spPr>
          <a:xfrm>
            <a:off x="1021680" y="5029200"/>
            <a:ext cx="1017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i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“"Change the background to green and add a section about what I do at Oren"”</a:t>
            </a:r>
            <a:endParaRPr lang="en-A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extBox 1"/>
          <p:cNvSpPr/>
          <p:nvPr/>
        </p:nvSpPr>
        <p:spPr>
          <a:xfrm>
            <a:off x="731520" y="365760"/>
            <a:ext cx="1072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Exercise 3: Build Something (10 min)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Rectangle 2"/>
          <p:cNvSpPr/>
          <p:nvPr/>
        </p:nvSpPr>
        <p:spPr>
          <a:xfrm>
            <a:off x="5181480" y="1325880"/>
            <a:ext cx="18284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3" name="TextBox 3"/>
          <p:cNvSpPr/>
          <p:nvPr/>
        </p:nvSpPr>
        <p:spPr>
          <a:xfrm>
            <a:off x="731520" y="1645920"/>
            <a:ext cx="1072836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1.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In your Claude Code session, type: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2.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Open the file in your browser (Claude will tell you the filename)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3.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Now iterate — ask Claude: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4.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Refresh your browser — see the changes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TextBox 1"/>
          <p:cNvSpPr/>
          <p:nvPr/>
        </p:nvSpPr>
        <p:spPr>
          <a:xfrm>
            <a:off x="731520" y="365760"/>
            <a:ext cx="1072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Exercise 4: Set Up Permissions (5 min)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Rectangle 2"/>
          <p:cNvSpPr/>
          <p:nvPr/>
        </p:nvSpPr>
        <p:spPr>
          <a:xfrm>
            <a:off x="5181480" y="1325880"/>
            <a:ext cx="18284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TextBox 3"/>
          <p:cNvSpPr/>
          <p:nvPr/>
        </p:nvSpPr>
        <p:spPr>
          <a:xfrm>
            <a:off x="731520" y="1645920"/>
            <a:ext cx="1072836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•  Ask Claude: "Copy the file from ~/claude_projects/learning_pods/setup/sample-claude-md/starter.md to this project's CLAUDE.md"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Box 1"/>
          <p:cNvSpPr/>
          <p:nvPr/>
        </p:nvSpPr>
        <p:spPr>
          <a:xfrm>
            <a:off x="731520" y="365760"/>
            <a:ext cx="1072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Exercise 5: Practice the Essential Commands (5 min)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Rectangle 2"/>
          <p:cNvSpPr/>
          <p:nvPr/>
        </p:nvSpPr>
        <p:spPr>
          <a:xfrm>
            <a:off x="5181480" y="1325880"/>
            <a:ext cx="18284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" name="TextBox 3"/>
          <p:cNvSpPr/>
          <p:nvPr/>
        </p:nvSpPr>
        <p:spPr>
          <a:xfrm>
            <a:off x="731520" y="1645920"/>
            <a:ext cx="1072836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1.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Ask Claude to do something: "Create a Python script that prints the numbers 1 to 100"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2.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While it's working, press **Ctrl+C** to stop it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3.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Type `/resume` — see how it picks up the conversation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4.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Type `/context` — see what Claude currently knows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5.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Type `/memory` — see what Claude has remembered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TextBox 1"/>
          <p:cNvSpPr/>
          <p:nvPr/>
        </p:nvSpPr>
        <p:spPr>
          <a:xfrm>
            <a:off x="731520" y="365760"/>
            <a:ext cx="1072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Bonus Exercise: Two Tabs</a:t>
            </a:r>
            <a:endParaRPr lang="en-A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Rectangle 2"/>
          <p:cNvSpPr/>
          <p:nvPr/>
        </p:nvSpPr>
        <p:spPr>
          <a:xfrm>
            <a:off x="5181480" y="1325880"/>
            <a:ext cx="18284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" name="TextBox 3"/>
          <p:cNvSpPr/>
          <p:nvPr/>
        </p:nvSpPr>
        <p:spPr>
          <a:xfrm>
            <a:off x="731520" y="1645920"/>
            <a:ext cx="1072836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1.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Open a second Warp tab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2.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`cd ~/claude_projects/my-first-project`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3.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Start a new Claude session: `claude`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4.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Give it a different task: "Create a second HTML page called about.html with information about Oren"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1" u="none" strike="noStrike">
                <a:solidFill>
                  <a:srgbClr val="4A90D9"/>
                </a:solidFill>
                <a:effectLst/>
                <a:uFillTx/>
                <a:latin typeface="Lato"/>
              </a:rPr>
              <a:t>5.  </a:t>
            </a:r>
            <a:r>
              <a:rPr lang="en-US" sz="1800" b="0" u="none" strike="noStrike">
                <a:solidFill>
                  <a:srgbClr val="E0E0E0"/>
                </a:solidFill>
                <a:effectLst/>
                <a:uFillTx/>
                <a:latin typeface="Lato"/>
              </a:rPr>
              <a:t>Switch between tabs — you now have two builders working for you</a:t>
            </a:r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Box 1"/>
          <p:cNvSpPr/>
          <p:nvPr/>
        </p:nvSpPr>
        <p:spPr>
          <a:xfrm>
            <a:off x="914400" y="2560320"/>
            <a:ext cx="10362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Key Takeaways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Rectangle 2"/>
          <p:cNvSpPr/>
          <p:nvPr/>
        </p:nvSpPr>
        <p:spPr>
          <a:xfrm>
            <a:off x="4724280" y="4114800"/>
            <a:ext cx="27428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extBox 1"/>
          <p:cNvSpPr/>
          <p:nvPr/>
        </p:nvSpPr>
        <p:spPr>
          <a:xfrm>
            <a:off x="914400" y="2560320"/>
            <a:ext cx="10362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Lato"/>
              </a:rPr>
              <a:t>Before Next Week</a:t>
            </a:r>
            <a:endParaRPr lang="en-A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Rectangle 2"/>
          <p:cNvSpPr/>
          <p:nvPr/>
        </p:nvSpPr>
        <p:spPr>
          <a:xfrm>
            <a:off x="4724280" y="4114800"/>
            <a:ext cx="2742840" cy="54360"/>
          </a:xfrm>
          <a:prstGeom prst="rect">
            <a:avLst/>
          </a:prstGeom>
          <a:solidFill>
            <a:srgbClr val="4A9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Lato"/>
              </a:defRPr>
            </a:pPr>
            <a:r>
              <a:t>Why Are We Here?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297680"/>
            <a:ext cx="2743200" cy="54864"/>
          </a:xfrm>
          <a:prstGeom prst="rect">
            <a:avLst/>
          </a:prstGeom>
          <a:solidFill>
            <a:srgbClr val="2B7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Lato"/>
              </a:defRPr>
            </a:pPr>
            <a:r>
              <a:t>Claude Code changes what's possible for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E0E0E0"/>
                </a:solidFill>
                <a:latin typeface="Lato"/>
              </a:defRPr>
            </a:pPr>
            <a:r>
              <a:t>Over 13 weeks, you'll learn to build things you'd normally need a developer for.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E0E0E0"/>
                </a:solidFill>
                <a:latin typeface="Lato"/>
              </a:defRPr>
            </a:pPr>
          </a:p>
          <a:p>
            <a:pPr algn="l">
              <a:spcAft>
                <a:spcPts val="1000"/>
              </a:spcAft>
              <a:defRPr sz="1800" b="0">
                <a:solidFill>
                  <a:srgbClr val="E0E0E0"/>
                </a:solidFill>
                <a:latin typeface="Lato"/>
              </a:defRPr>
            </a:pPr>
            <a:r>
              <a:t>"Analyze this CSV and chart our top 10 emitters" → Done in 2 minutes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E0E0E0"/>
                </a:solidFill>
                <a:latin typeface="Lato"/>
              </a:defRPr>
            </a:pPr>
            <a:r>
              <a:t>"Create a client dashboard with pipeline data" → Done in 15 min, live URL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E0E0E0"/>
                </a:solidFill>
                <a:latin typeface="Lato"/>
              </a:defRPr>
            </a:pPr>
            <a:r>
              <a:t>"Summarize my Drive docs and post to Slack" → Done in 5 minutes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E0E0E0"/>
                </a:solidFill>
                <a:latin typeface="Lato"/>
              </a:defRPr>
            </a:pPr>
            <a:r>
              <a:t>"Build a landing page for our new service" → Done in 10 min, on the internet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E0E0E0"/>
                </a:solidFill>
                <a:latin typeface="Lato"/>
              </a:defRPr>
            </a:pPr>
          </a:p>
          <a:p>
            <a:pPr algn="l">
              <a:spcAft>
                <a:spcPts val="1000"/>
              </a:spcAft>
              <a:defRPr sz="1800" b="0">
                <a:solidFill>
                  <a:srgbClr val="E0E0E0"/>
                </a:solidFill>
                <a:latin typeface="Lato"/>
              </a:defRPr>
            </a:pPr>
            <a:r>
              <a:t>You don't write code. You describe what you want. Claude builds it.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E0E0E0"/>
                </a:solidFill>
                <a:latin typeface="Lato"/>
              </a:defRPr>
            </a:pPr>
            <a:r>
              <a:t>If you can write a clear email, you can use Claude Code.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Lato"/>
              </a:defRPr>
            </a:pPr>
            <a:r>
              <a:t>What does "full-stack confident" mean?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E0E0E0"/>
                </a:solidFill>
                <a:latin typeface="Lato"/>
              </a:defRPr>
            </a:pPr>
            <a:r>
              <a:t>By the end of this series, you'll go from idea to working, deployed tool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E0E0E0"/>
                </a:solidFill>
                <a:latin typeface="Lato"/>
              </a:defRPr>
            </a:pPr>
            <a:r>
              <a:t>— start to finish — without needing help from engineering.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E0E0E0"/>
                </a:solidFill>
                <a:latin typeface="Lato"/>
              </a:defRPr>
            </a:pPr>
          </a:p>
          <a:p>
            <a:pPr algn="l">
              <a:spcAft>
                <a:spcPts val="1000"/>
              </a:spcAft>
              <a:defRPr sz="1800" b="0">
                <a:solidFill>
                  <a:srgbClr val="E0E0E0"/>
                </a:solidFill>
                <a:latin typeface="Lato"/>
              </a:defRPr>
            </a:pPr>
            <a:r>
              <a:t>Not "I can write code."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E0E0E0"/>
                </a:solidFill>
                <a:latin typeface="Lato"/>
              </a:defRPr>
            </a:pPr>
            <a:r>
              <a:t>It means "I can build and ship things."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Lato"/>
              </a:defRPr>
            </a:pPr>
            <a:r>
              <a:t>Why the Terminal? Why File Organization?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297680"/>
            <a:ext cx="2743200" cy="54864"/>
          </a:xfrm>
          <a:prstGeom prst="rect">
            <a:avLst/>
          </a:prstGeom>
          <a:solidFill>
            <a:srgbClr val="2B7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Lato"/>
              </a:defRPr>
            </a:pPr>
            <a:r>
              <a:t>Two foundations before we start building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E0E0E0"/>
                </a:solidFill>
                <a:latin typeface="Lato"/>
              </a:defRPr>
            </a:pPr>
            <a:r>
              <a:t>THE TERMINAL IS THE GATEWAY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E0E0E0"/>
                </a:solidFill>
                <a:latin typeface="Lato"/>
              </a:defRPr>
            </a:pPr>
            <a:r>
              <a:t>Claude Code lives in the terminal. A chat window can only talk.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E0E0E0"/>
                </a:solidFill>
                <a:latin typeface="Lato"/>
              </a:defRPr>
            </a:pPr>
            <a:r>
              <a:t>A terminal can do. You only need about 5 commands — fewer than Excel shortcuts.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E0E0E0"/>
                </a:solidFill>
                <a:latin typeface="Lato"/>
              </a:defRPr>
            </a:pPr>
          </a:p>
          <a:p>
            <a:pPr algn="l">
              <a:spcAft>
                <a:spcPts val="1000"/>
              </a:spcAft>
              <a:defRPr sz="1800" b="0">
                <a:solidFill>
                  <a:srgbClr val="E0E0E0"/>
                </a:solidFill>
                <a:latin typeface="Lato"/>
              </a:defRPr>
            </a:pPr>
            <a:r>
              <a:t>FILE ORGANIZATION IS THE FOUNDATION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E0E0E0"/>
                </a:solidFill>
                <a:latin typeface="Lato"/>
              </a:defRPr>
            </a:pPr>
            <a:r>
              <a:t>The #1 frustration: "Claude can't find my files" or "Claude edited the wrong folder."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E0E0E0"/>
                </a:solidFill>
                <a:latin typeface="Lato"/>
              </a:defRPr>
            </a:pPr>
            <a:r>
              <a:t>We fix that today with one clean home base: ~/claude_projects/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E0E0E0"/>
                </a:solidFill>
                <a:latin typeface="Lato"/>
              </a:defRPr>
            </a:pPr>
            <a:r>
              <a:t>Every project gets its own folder. Claude always knows where to look.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LibreOffice/26.2.1.2$Windows_X86_64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en-AE</dc:language>
  <cp:lastModifiedBy/>
  <dcterms:modified xsi:type="dcterms:W3CDTF">2026-03-24T14:50:34Z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