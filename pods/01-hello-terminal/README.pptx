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 i="0">
                <a:solidFill>
                  <a:srgbClr val="FFFFFF"/>
                </a:solidFill>
                <a:latin typeface="Lato"/>
              </a:rPr>
              <a:t>Pod 01: Hello, Terminal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267047" y="4023360"/>
            <a:ext cx="36576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29768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4A90D9"/>
                </a:solidFill>
                <a:latin typeface="Lato"/>
              </a:rPr>
              <a:t>Befriending the command line and meeting your AI builder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0E0E0"/>
                </a:solidFill>
                <a:latin typeface="Lato"/>
              </a:rPr>
              <a:t>Week 1 | Date: Apr 6, 2026 | Duration: 60 min (30 lecture + 30 hands-on)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Why Are We Here?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Claude Code changes what's possible for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"Analyze this CSV and build me a chart of our top 10 emitters" → </a:t>
            </a:r>
            <a:r>
              <a:rPr sz="1800" b="1" i="0">
                <a:solidFill>
                  <a:srgbClr val="4A90D9"/>
                </a:solidFill>
                <a:latin typeface="Lato"/>
              </a:rPr>
              <a:t>Done in 2 minutes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"Create a client-facing dashboard with our pipeline data" → </a:t>
            </a:r>
            <a:r>
              <a:rPr sz="1800" b="1" i="0">
                <a:solidFill>
                  <a:srgbClr val="4A90D9"/>
                </a:solidFill>
                <a:latin typeface="Lato"/>
              </a:rPr>
              <a:t>Done in 15 minutes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"Summarize every document in my Google Drive folder and post to Slack" → </a:t>
            </a:r>
            <a:r>
              <a:rPr sz="1800" b="1" i="0">
                <a:solidFill>
                  <a:srgbClr val="4A90D9"/>
                </a:solidFill>
                <a:latin typeface="Lato"/>
              </a:rPr>
              <a:t>Done in 5 minutes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"Build me a landing page for our new service offering" → </a:t>
            </a:r>
            <a:r>
              <a:rPr sz="1800" b="1" i="0">
                <a:solidFill>
                  <a:srgbClr val="4A90D9"/>
                </a:solidFill>
                <a:latin typeface="Lato"/>
              </a:rPr>
              <a:t>Done in 10 minutes, live on the internet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Warp — Your New Home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What is Warp?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Autocomplete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guesses what you're trying to type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Visual blocks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groups each command with its result so you don't get lost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AI suggestions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can explain commands in plain English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Windows Users: Confirm Git Bash Is Your Default Shell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Terminal Basics — 5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The Rosetta Stone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728655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What you want to do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With your mouse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In the terminal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What it stands for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See what's in this folder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Open the folder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`ls`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**l**i**s**t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Go into a folder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Double-click it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`cd folder-name`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**c**hange **d**irectory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Where am I right now?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Look at the address bar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`pwd`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**p**rint **w**orking **d**irectory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Create a new folder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Right-click → New Folder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`mkdir folder-name`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**m**a**k**e **dir**ectory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Go up one folder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Click the back arrow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`cd ..`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**c**hange **d**irectory to parent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The Rosetta Stone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Same Filing Cabinet, Two Views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Your Home 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`~/claude_projects/` — Where All Your Work Lives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45775" cy="4572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~/claude_projects/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├── my-first-project/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├── client-dashboard/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├── report-generator/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└── learning_pods/        ← this repo (we'll clone it shortly)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`~/claude_projects/` — Where All Your Work Lives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Your First Project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Let's Build Something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45775" cy="4572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   mkdir ~/claude_projects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   mkdir ~/claude_projects/my-first-project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   cd ~/claude_projects/my-first-project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Let's Build Something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45775" cy="4572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  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669280"/>
            <a:ext cx="101800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4A90D9"/>
                </a:solidFill>
                <a:latin typeface="Lato"/>
              </a:rPr>
              <a:t>“Create an HTML page that says Hello [your name] with a dark background and today's date. Make it look professional.”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669280"/>
            <a:ext cx="101800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4A90D9"/>
                </a:solidFill>
                <a:latin typeface="Lato"/>
              </a:rPr>
              <a:t>“Add a section about what I do at Oren and change the background to a dark blue (#1a1a2e)”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Let's Build Something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Create your home base and first project folder: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Start Claude Code: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Type a prompt — your first instruction to Claude: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4.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Claude will create a file. Open it in your browser — **you just built a webpage without writing a line of code.**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5.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Now iterate — tell Claude: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6.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Refresh your browser. See the changes. **This describe-and-build loop is how you'll work from now on.**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Ctrl+C — Your Emergency Brake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Why Git and GitHub?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You Already Use Google Drive — Think of GitHub as Drive for Business Logic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How Oren Will Work Going Forward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728655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218"/>
                <a:gridCol w="3576218"/>
                <a:gridCol w="3576219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What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Where it lives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Why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Documents, presentations, templates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**Google Drive**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Easy to share, everyone knows it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Dashboards, tools, automations, code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**GitHub**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Built for iteration, version history, Claude-friendly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How Oren Will Work Going Forward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728655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27"/>
                <a:gridCol w="5364328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Concept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What it means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**Remote**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The version of your project that lives on GitHub (online — like a file on Google Drive)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**Local**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The version of your project on your computer (like a downloaded copy)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**Push**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Upload your local changes to GitHub (like saving a file back to Drive)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**Pull**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Download the latest changes from GitHub to your computer (like syncing)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How Oren Will Work Going Forward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Connecting to GitHub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Let's Set It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Saved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never lose a project again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Shareable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your team can see what you've built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Version-tracked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you can always go back to an earlier 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669280"/>
            <a:ext cx="101800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4A90D9"/>
                </a:solidFill>
                <a:latin typeface="Lato"/>
              </a:rPr>
              <a:t>“Install the GitHub command-line tool for me”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Step 1: Ask Claude to Install the GitHub Tool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Step 2: Log In to GitHub (The One Time You Leave Claude)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45775" cy="4572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   gh auth login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Step 2: Log In to GitHub (The One Time You Leave Claude)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GitHub.com</a:t>
            </a:r>
            <a:r>
              <a:rPr sz="1800" b="0" i="0">
                <a:solidFill>
                  <a:srgbClr val="E0E0E0"/>
                </a:solidFill>
                <a:latin typeface="Lato"/>
              </a:rPr>
              <a:t> (not Enterprise)  — </a:t>
            </a:r>
            <a:r>
              <a:rPr sz="1800" b="1" i="0">
                <a:solidFill>
                  <a:srgbClr val="4A90D9"/>
                </a:solidFill>
                <a:latin typeface="Lato"/>
              </a:rPr>
              <a:t>HTTPS</a:t>
            </a:r>
            <a:r>
              <a:rPr sz="1800" b="0" i="0">
                <a:solidFill>
                  <a:srgbClr val="E0E0E0"/>
                </a:solidFill>
                <a:latin typeface="Lato"/>
              </a:rPr>
              <a:t>  — </a:t>
            </a:r>
            <a:r>
              <a:rPr sz="1800" b="1" i="0">
                <a:solidFill>
                  <a:srgbClr val="4A90D9"/>
                </a:solidFill>
                <a:latin typeface="Lato"/>
              </a:rPr>
              <a:t>Yes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authenticate Git with GitHub credentials  — </a:t>
            </a:r>
            <a:r>
              <a:rPr sz="1800" b="1" i="0">
                <a:solidFill>
                  <a:srgbClr val="4A90D9"/>
                </a:solidFill>
                <a:latin typeface="Lato"/>
              </a:rPr>
              <a:t>Login with a web browser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669280"/>
            <a:ext cx="101800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4A90D9"/>
                </a:solidFill>
                <a:latin typeface="Lato"/>
              </a:rPr>
              <a:t>“Check if GitHub is connected”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Step 3: Verify It Worked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Clone the Learning Pods Repo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5669280"/>
            <a:ext cx="101800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4A90D9"/>
                </a:solidFill>
                <a:latin typeface="Lato"/>
              </a:rPr>
              <a:t>“Clone the learning pods repository from GitHub to my claude_projects folder. The repo URL is https://github.com/avasthianshul/learning-pods.git”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669280"/>
            <a:ext cx="101800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4A90D9"/>
                </a:solidFill>
                <a:latin typeface="Lato"/>
              </a:rPr>
              <a:t>“Open the learning_pods folder”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Get the Course Materials on Your Machine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Your Revision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Interactive Lecture Notes in Your Browser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45775" cy="4572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~/claude_projects/learning_pods/pods/01-hello-terminal/app/index.html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Interactive Lecture Notes in Your Browser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Hands-On Exercises (30 min)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Exercise 1: Set Up Your Workspace (5 min)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Create `~/claude_projects/` if you haven't already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Verify with `pwd` and `ls`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Check it in File Explorer / Finder too — same folder, two views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Exercise 2: Your First Project (10 min)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Create a project folder, start Claude Code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Build an HTML page with your name and Oren branding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Iterate on it — change colors, add content, make it yours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4.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Open it in your browser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Exercise 3: Connect to GitHub (10 min)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Ask Claude to install the GitHub CLI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Open a new Warp tab and run `gh auth login`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Come back to Claude Code and verify the connection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Exercise 4: Clone and Explore (5 min)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Clone the learning_pods repo via Claude Code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Open the Pod 01 app (index.html) in your browser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Click through the lecture notes — this is your revision tool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Before Next Week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