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5089ADF-69C3-49C9-93BD-DAF92CF1BE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AA9BC95-4D32-435D-89D0-F1CFCDF94D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C5ABA55-D2D1-4B26-9B75-525B0C48E7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73C4542-F957-4F8D-BD7F-9333338C1D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9D1568B-AB78-4DB4-A88A-C793FCA726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BADD2F0-061A-460F-881F-3B51FA8E75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60CB01A-9CEF-451E-9071-8E495EC25C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CAFEDD7-9AE0-48D7-8C0A-01B30C75A3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28E0AD9-51D2-4B87-AD89-5072135926B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5B38DC4-C4BB-4321-9872-A4442DE7B2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9EC74B6-83BC-4903-955B-407239A4B9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file:///C:/Users/" TargetMode="External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914400" y="2011680"/>
            <a:ext cx="1036224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Pod 01: Hello, Terminal</a:t>
            </a:r>
            <a:endParaRPr lang="en-AE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4267080" y="4023360"/>
            <a:ext cx="36568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371600" y="4297680"/>
            <a:ext cx="94478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i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Befriending the command line </a:t>
            </a:r>
            <a:endParaRPr lang="en-A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371600" y="4572000"/>
            <a:ext cx="944784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Week 1 | Date: Apr 1, 2026 | Duration: 60 min </a:t>
            </a:r>
            <a:endParaRPr lang="en-A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1371600" y="2286000"/>
            <a:ext cx="9143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AE" sz="36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Why Are We Here?</a:t>
            </a:r>
            <a:endParaRPr lang="en-AE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4"/>
          <p:cNvSpPr/>
          <p:nvPr/>
        </p:nvSpPr>
        <p:spPr>
          <a:xfrm>
            <a:off x="1371600" y="4297680"/>
            <a:ext cx="2742840" cy="54360"/>
          </a:xfrm>
          <a:prstGeom prst="rect">
            <a:avLst/>
          </a:prstGeom>
          <a:solidFill>
            <a:srgbClr val="2B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A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731520" y="3657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AE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Claude Code changes what's possible for you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"/>
          <p:cNvSpPr/>
          <p:nvPr/>
        </p:nvSpPr>
        <p:spPr>
          <a:xfrm>
            <a:off x="731520" y="1463040"/>
            <a:ext cx="1051524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Over 13 weeks, you'll learn to build things you'd normally need a developer for.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"Analyze this CSV and chart our top 10 emitters" → Done in 2 minutes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"Create a client dashboard with pipeline data" → Done in 15 min, live URL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"Summarize my Drive docs and post to Slack" → Done in 5 minutes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"Build a landing page for our new service" → Done in 10 min, on the internet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You don't write code. You describe what you want. Claude builds it.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If you can write a clear email, you can use Claude Code.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731520" y="3657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AE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What does "full-stack confident" mean?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731520" y="1463040"/>
            <a:ext cx="1051524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By the end of this series, you'll go from idea to working, deployed tool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— start to finish — without needing help from engineering.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Not "I can write code."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It means "I can build and ship things."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3"/>
          <p:cNvSpPr/>
          <p:nvPr/>
        </p:nvSpPr>
        <p:spPr>
          <a:xfrm>
            <a:off x="1371600" y="2286000"/>
            <a:ext cx="9143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AE" sz="36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Why the Terminal? Why File Organization?</a:t>
            </a:r>
            <a:endParaRPr lang="en-AE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4"/>
          <p:cNvSpPr/>
          <p:nvPr/>
        </p:nvSpPr>
        <p:spPr>
          <a:xfrm>
            <a:off x="1371600" y="4297680"/>
            <a:ext cx="2742840" cy="54360"/>
          </a:xfrm>
          <a:prstGeom prst="rect">
            <a:avLst/>
          </a:prstGeom>
          <a:solidFill>
            <a:srgbClr val="2B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A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731520" y="3657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AE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Two foundations before we start building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31520" y="1463040"/>
            <a:ext cx="10515240" cy="51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THE TERMINAL IS THE GATEWAY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Claude Code lives in the terminal. A chat window can only talk.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A terminal can do. You only need about 5 commands — fewer than Excel shortcuts.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FILE ORGANIZATION IS THE FOUNDATION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The #1 frustration: "Claude can't find my files" or "Claude edited the wrong folder."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We fix that today with one clean home base: ~/claude_projects/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Every project gets its own folder. Claude always knows where to look.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Repeat after me – 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Every project gets its own folder.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Every project gets its own folder.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lang="en-AE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Every project gets its own folder.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1: The Terminal Is Just a Text Box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If You Can Use Excel, You Can Use This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You type a formula into a cell: `=SUM(A1:A10)`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Excel reads your instruction and gives you a result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You didn't "program" anything — you just told the tool what you wanted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What Is Warp?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Download from warp.dev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 may have heard of the “Terminal” app.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br>
              <a:rPr sz="1800"/>
            </a:b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Terminal : Warp == </a:t>
            </a:r>
            <a:br>
              <a:rPr sz="1800"/>
            </a:b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Internet Explorer : Google Chrome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 can use either, Warp is nicer.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Doesn’t matter too much, </a:t>
            </a:r>
            <a:br>
              <a:rPr sz="1800"/>
            </a:b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we mainly want to use it to launch Claude.</a:t>
            </a:r>
            <a:br>
              <a:rPr sz="1800"/>
            </a:br>
            <a:br>
              <a:rPr sz="1800"/>
            </a:b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Chrome : website == Warp : Claude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During setup, just opt for Classic terminal.</a:t>
            </a:r>
            <a:br>
              <a:rPr sz="1800"/>
            </a:b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3" name=""/>
          <p:cNvPicPr/>
          <p:nvPr/>
        </p:nvPicPr>
        <p:blipFill>
          <a:blip r:embed="rId1"/>
          <a:stretch/>
        </p:blipFill>
        <p:spPr>
          <a:xfrm>
            <a:off x="6743520" y="1645920"/>
            <a:ext cx="5143680" cy="4619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First Commands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2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First Commands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7" name="Table 2"/>
          <p:cNvGraphicFramePr/>
          <p:nvPr/>
        </p:nvGraphicFramePr>
        <p:xfrm>
          <a:off x="731520" y="1645920"/>
          <a:ext cx="10727640" cy="2561040"/>
        </p:xfrm>
        <a:graphic>
          <a:graphicData uri="http://schemas.openxmlformats.org/drawingml/2006/table">
            <a:tbl>
              <a:tblPr/>
              <a:tblGrid>
                <a:gridCol w="2682000"/>
                <a:gridCol w="2682000"/>
                <a:gridCol w="2682000"/>
                <a:gridCol w="2682000"/>
              </a:tblGrid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Lato"/>
                        </a:rPr>
                        <a:t>What you want to do</a:t>
                      </a:r>
                      <a:endParaRPr lang="en-AE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C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Lato"/>
                        </a:rPr>
                        <a:t>In File Explorer / Finder</a:t>
                      </a:r>
                      <a:endParaRPr lang="en-AE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C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Lato"/>
                        </a:rPr>
                        <a:t>In the terminal</a:t>
                      </a:r>
                      <a:endParaRPr lang="en-AE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C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Lato"/>
                        </a:rPr>
                        <a:t>What it stands for</a:t>
                      </a:r>
                      <a:endParaRPr lang="en-AE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See what's in this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Open the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`ls`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**l**i**s**t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Go into a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Double-click it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`cd folder-name`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**c**hange **d**irectory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Where am I right now?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Look at the address bar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`pwd`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**p**rint **w**orking **d**irectory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Create a new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Right-click → New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`mkdir folder-name`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**m**a**k**e **dir**ectory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Go up one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Click the back arrow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`cd ..`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**c**hange **d**irectory to parent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2: Where Do Files Live?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Filing Cabinet Analogy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Why Not Work on the Desktop?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It gets messy fast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Things get synced to cloud storage unexpectedly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You can't find anything after a month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Claude Code has no idea where to look</a:t>
            </a:r>
            <a:br>
              <a:rPr sz="1800"/>
            </a:b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I want you to build 100s of projects. </a:t>
            </a:r>
            <a:br>
              <a:rPr sz="1800"/>
            </a:b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Every one-time task is a project.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Every recurring task is a project.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Every project gets its own folder.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You will have too many folders to keep track of if you don’t stay organized.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You will be confused, and claude will be confused.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Standard: `~/claude_projects/`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2"/>
          <p:cNvSpPr/>
          <p:nvPr/>
        </p:nvSpPr>
        <p:spPr>
          <a:xfrm>
            <a:off x="640080" y="1463040"/>
            <a:ext cx="5760720" cy="493704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3"/>
          <p:cNvSpPr/>
          <p:nvPr/>
        </p:nvSpPr>
        <p:spPr>
          <a:xfrm>
            <a:off x="914400" y="1645920"/>
            <a:ext cx="1054512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~/claude_projects/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├── my-first-project/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├── client-dashboard/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├── weekly-report-generator/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└── learning_pods/        ← this repo lives here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858000" y="1600200"/>
            <a:ext cx="4572000" cy="4572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~ means “home”</a:t>
            </a:r>
            <a:br>
              <a:rPr sz="1800"/>
            </a:br>
            <a:br>
              <a:rPr sz="1800"/>
            </a:br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On windows, its </a:t>
            </a:r>
            <a:br>
              <a:rPr sz="1800"/>
            </a:br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  <a:hlinkClick r:id="rId1"/>
              </a:rPr>
              <a:t>C:/Users/</a:t>
            </a:r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&lt;your-user-name&gt;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On Mac, its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/&lt;something&gt;/&lt;your-user-name&gt;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You want to consolidate all your claude-related work in a sub-folder inside home.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"/>
          <p:cNvSpPr/>
          <p:nvPr/>
        </p:nvSpPr>
        <p:spPr>
          <a:xfrm>
            <a:off x="914400" y="27439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914400" y="1629000"/>
            <a:ext cx="10058400" cy="1882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Exercise: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Move this folder to the right location on your desktop. 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- Go to File Explorer / Finder 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- Double click "~\claude_projects\learning_pods\pods\01-hello-terminal\app\index.html"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- Open in Chrome / Safari if it asks you how to view it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- Try out the interactive terminal tutorial (copy commands, paste them in warp)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1"/>
          <p:cNvSpPr/>
          <p:nvPr/>
        </p:nvSpPr>
        <p:spPr>
          <a:xfrm>
            <a:off x="914400" y="2560320"/>
            <a:ext cx="10362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3: Finally, Claude Code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What Is Claude Code?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Creates files and folders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Writes code (Python, HTML, whatever is needed)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Reads and edits existing files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Runs commands on your computer (!!!!!!) 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Fixes its own mistakes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First Prompt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3"/>
          <p:cNvSpPr/>
          <p:nvPr/>
        </p:nvSpPr>
        <p:spPr>
          <a:xfrm>
            <a:off x="914400" y="1645920"/>
            <a:ext cx="1054512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/>
          <a:stretch/>
        </p:blipFill>
        <p:spPr>
          <a:xfrm>
            <a:off x="885960" y="2057400"/>
            <a:ext cx="3686040" cy="1399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"/>
          <p:cNvPicPr/>
          <p:nvPr/>
        </p:nvPicPr>
        <p:blipFill>
          <a:blip r:embed="rId2"/>
          <a:stretch/>
        </p:blipFill>
        <p:spPr>
          <a:xfrm>
            <a:off x="914400" y="3886200"/>
            <a:ext cx="9906120" cy="282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Box 6"/>
          <p:cNvSpPr/>
          <p:nvPr/>
        </p:nvSpPr>
        <p:spPr>
          <a:xfrm>
            <a:off x="564840" y="1266120"/>
            <a:ext cx="1017936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“"Create an HTML page that says Hello [your name] with a blue background and today's date"”</a:t>
            </a:r>
            <a:endParaRPr lang="en-A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7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Output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8"/>
          <p:cNvSpPr/>
          <p:nvPr/>
        </p:nvSpPr>
        <p:spPr>
          <a:xfrm>
            <a:off x="914400" y="1645920"/>
            <a:ext cx="1054512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" name=""/>
          <p:cNvPicPr/>
          <p:nvPr/>
        </p:nvPicPr>
        <p:blipFill>
          <a:blip r:embed="rId1"/>
          <a:stretch/>
        </p:blipFill>
        <p:spPr>
          <a:xfrm>
            <a:off x="0" y="914400"/>
            <a:ext cx="12191760" cy="2785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"/>
          <p:cNvPicPr/>
          <p:nvPr/>
        </p:nvPicPr>
        <p:blipFill>
          <a:blip r:embed="rId2"/>
          <a:stretch/>
        </p:blipFill>
        <p:spPr>
          <a:xfrm>
            <a:off x="2971800" y="3429000"/>
            <a:ext cx="6423840" cy="332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First Prompt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Think about what you asked - create an html page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Think about what you accomplished – Finished webpage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No need to understand how to work with html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4: Setting Up a Project with `/init`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What Is a Project?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Using `/init`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2"/>
          <p:cNvSpPr/>
          <p:nvPr/>
        </p:nvSpPr>
        <p:spPr>
          <a:xfrm>
            <a:off x="640080" y="1463040"/>
            <a:ext cx="10910880" cy="493704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914400" y="1645920"/>
            <a:ext cx="1054512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/init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Using `/init`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Create a `CLAUDE.md` file in your project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Ask you a few questions about what the project is for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Set up sensible defaults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What Is CLAUDE.md?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A brief for a new contractor: "Here's what this project is about, here's how we do things, here are the rules"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A preferences file: "Always use dark theme, always write in plain English, never delete important files"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Starter CLAUDE.md  (markdown)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2"/>
          <p:cNvSpPr/>
          <p:nvPr/>
        </p:nvSpPr>
        <p:spPr>
          <a:xfrm>
            <a:off x="640080" y="1463040"/>
            <a:ext cx="10910880" cy="493704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3"/>
          <p:cNvSpPr/>
          <p:nvPr/>
        </p:nvSpPr>
        <p:spPr>
          <a:xfrm>
            <a:off x="914400" y="1645920"/>
            <a:ext cx="1054512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# My Project Name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## What This Project Does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[One sentence describing the project]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## Rules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Explain everything in plain English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Ask before deleting any files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Never run dangerous commands like rm -rf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Always commit work to git before making big changes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## Defaults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Use plain HTML + CSS for web pages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Use Python for data tasks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Use a dark theme with Oren brand colors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Starter CLAUDE.md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5: The Permission Model — Why Claude Pauses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TextBox 3"/>
          <p:cNvSpPr/>
          <p:nvPr/>
        </p:nvSpPr>
        <p:spPr>
          <a:xfrm>
            <a:off x="1005840" y="5669280"/>
            <a:ext cx="1017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“"Allow Claude to run: `python analyze.py`? [Y/n]"”</a:t>
            </a:r>
            <a:endParaRPr lang="en-A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Problem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Solution: Pre-Allow Safe Commands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Running Python scripts: always fine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Creating and editing files: always fine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Running `git` commands: always fine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Running `npm` commands: always fine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`rm -rf` (delete everything): NEVER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`git push --force` (overwrite team's work): NEVER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Solution: Pre-Allow Safe Commands (cont.)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Any command that deletes without confirmation: NEVER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6: Essential Commands You'll Use Every Day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Ctrl+C — The Emergency Stop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/resume — Pick Up Where You Left Off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Rounded Rectangle 2"/>
          <p:cNvSpPr/>
          <p:nvPr/>
        </p:nvSpPr>
        <p:spPr>
          <a:xfrm>
            <a:off x="640080" y="1463040"/>
            <a:ext cx="10910880" cy="493704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3"/>
          <p:cNvSpPr/>
          <p:nvPr/>
        </p:nvSpPr>
        <p:spPr>
          <a:xfrm>
            <a:off x="914400" y="1645920"/>
            <a:ext cx="1054512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/resume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/resume — Pick Up Where You Left Off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/context — What Does Claude See?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2"/>
          <p:cNvSpPr/>
          <p:nvPr/>
        </p:nvSpPr>
        <p:spPr>
          <a:xfrm>
            <a:off x="640080" y="1463040"/>
            <a:ext cx="10910880" cy="493704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3"/>
          <p:cNvSpPr/>
          <p:nvPr/>
        </p:nvSpPr>
        <p:spPr>
          <a:xfrm>
            <a:off x="914400" y="1645920"/>
            <a:ext cx="1054512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/context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/context — What Does Claude See?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/memory — What Claude Remembers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2"/>
          <p:cNvSpPr/>
          <p:nvPr/>
        </p:nvSpPr>
        <p:spPr>
          <a:xfrm>
            <a:off x="640080" y="1463040"/>
            <a:ext cx="10910880" cy="493704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Box 3"/>
          <p:cNvSpPr/>
          <p:nvPr/>
        </p:nvSpPr>
        <p:spPr>
          <a:xfrm>
            <a:off x="914400" y="1645920"/>
            <a:ext cx="1054512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/memory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/memory — What Claude Remembers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7: The Waiting Game — Multitasking with Claude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Reality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Two-Tab Strategy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1.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**Tab 1:** Give Claude a task. It starts working.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2.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**Tab 2:** Open a new Warp tab. Start a new Claude session on a different task.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3.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When Tab 1 finishes, you'll see the result waiting for you.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How to Know When Claude Is Done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Warp shows visual indicators when a command finishes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You can also ask Claude to notify you with a ping whenever it’s done with a task (try it!)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But often, my laptop is on mute and I just glance through all my tabs periodically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Hands-On Exercises (30 min)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Exercise 1: Set Up Your Workspace (5 min)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`mkdir ~/claude_projects`  — `cd ~/claude_projects`  — `pwd`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Exercise 2: Your First Project (5 min)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`mkdir my-first-project`  — `cd my-first-project`  — `claude`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4"/>
          <p:cNvSpPr/>
          <p:nvPr/>
        </p:nvSpPr>
        <p:spPr>
          <a:xfrm>
            <a:off x="1005840" y="5669280"/>
            <a:ext cx="1017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“"Create an HTML page that says Hello [your name]. Use a dark background (#1a1a2e) and white text. Add today's date and a fun fact about sustainability."”</a:t>
            </a:r>
            <a:endParaRPr lang="en-A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"/>
          <p:cNvSpPr/>
          <p:nvPr/>
        </p:nvSpPr>
        <p:spPr>
          <a:xfrm>
            <a:off x="1021680" y="5029200"/>
            <a:ext cx="1017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“"Change the background to green and add a section about what I do at Oren"”</a:t>
            </a:r>
            <a:endParaRPr lang="en-A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Exercise 3: Build Something (10 min)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1.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In your Claude Code session, type: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2.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Open the file in your browser (Claude will tell you the filename)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3.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Now iterate — ask Claude: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4.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Refresh your browser — see the changes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Exercise 4: Set Up Permissions (5 min)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Ask Claude: "Copy the file from ~/claude_projects/learning_pods/setup/sample-claude-md/starter.md to this project's CLAUDE.md"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Exercise 5: Practice the Essential Commands (5 min)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1.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Ask Claude to do something: "Create a Python script that prints the numbers 1 to 100"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2.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While it's working, press **Ctrl+C** to stop it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3.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Type `/resume` — see how it picks up the conversation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4.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Type `/context` — see what Claude currently knows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5.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Type `/memory` — see what Claude has remembered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Box 1"/>
          <p:cNvSpPr/>
          <p:nvPr/>
        </p:nvSpPr>
        <p:spPr>
          <a:xfrm>
            <a:off x="731520" y="365760"/>
            <a:ext cx="10728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Bonus Exercise: Two Tabs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Rectangle 2"/>
          <p:cNvSpPr/>
          <p:nvPr/>
        </p:nvSpPr>
        <p:spPr>
          <a:xfrm>
            <a:off x="5181480" y="1325880"/>
            <a:ext cx="18280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Box 3"/>
          <p:cNvSpPr/>
          <p:nvPr/>
        </p:nvSpPr>
        <p:spPr>
          <a:xfrm>
            <a:off x="731520" y="1645920"/>
            <a:ext cx="10728000" cy="47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1.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Open a second Warp tab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2.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`cd ~/claude_projects/my-first-project`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3.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Start a new Claude session: `claude`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4.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Give it a different task: "Create a second HTML page called about.html with information about Oren"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5.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Switch between tabs — you now have two builders working for you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Key Takeaways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Box 1"/>
          <p:cNvSpPr/>
          <p:nvPr/>
        </p:nvSpPr>
        <p:spPr>
          <a:xfrm>
            <a:off x="914400" y="2560320"/>
            <a:ext cx="10362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Before Next Week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2"/>
          <p:cNvSpPr/>
          <p:nvPr/>
        </p:nvSpPr>
        <p:spPr>
          <a:xfrm>
            <a:off x="4724280" y="4114800"/>
            <a:ext cx="2742480" cy="5400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Application>LibreOffice/26.2.1.2$Windows_X86_64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en-AE</dc:language>
  <cp:lastModifiedBy/>
  <dcterms:modified xsi:type="dcterms:W3CDTF">2026-03-24T16:01:46Z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