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629400" y="274680"/>
            <a:ext cx="2055960" cy="585000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body"/>
          </p:nvPr>
        </p:nvSpPr>
        <p:spPr>
          <a:xfrm>
            <a:off x="457200" y="274680"/>
            <a:ext cx="6018480" cy="58500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 name="PlaceHolder 3"/>
          <p:cNvSpPr>
            <a:spLocks noGrp="1"/>
          </p:cNvSpPr>
          <p:nvPr>
            <p:ph type="dt" idx="1"/>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 name="PlaceHolder 4"/>
          <p:cNvSpPr>
            <a:spLocks noGrp="1"/>
          </p:cNvSpPr>
          <p:nvPr>
            <p:ph type="ftr" idx="2"/>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A7AF4D1-86EA-44AD-9757-B7BF067E8CCA}"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457200" y="1600200"/>
            <a:ext cx="8228160" cy="45244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dt" idx="4"/>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0282AB9-3B43-4492-8C59-52F58BEC719A}"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722160" y="4406760"/>
            <a:ext cx="7770960" cy="136080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13" name="PlaceHolder 2"/>
          <p:cNvSpPr>
            <a:spLocks noGrp="1"/>
          </p:cNvSpPr>
          <p:nvPr>
            <p:ph type="body"/>
          </p:nvPr>
        </p:nvSpPr>
        <p:spPr>
          <a:xfrm>
            <a:off x="722160" y="2906640"/>
            <a:ext cx="7770960" cy="149868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14" name="PlaceHolder 3"/>
          <p:cNvSpPr>
            <a:spLocks noGrp="1"/>
          </p:cNvSpPr>
          <p:nvPr>
            <p:ph type="dt" idx="7"/>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FCAB45B-318D-422E-9339-BEE7CCFAE088}"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457200" y="1600200"/>
            <a:ext cx="4037040" cy="452448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19" name="PlaceHolder 3"/>
          <p:cNvSpPr>
            <a:spLocks noGrp="1"/>
          </p:cNvSpPr>
          <p:nvPr>
            <p:ph type="body"/>
          </p:nvPr>
        </p:nvSpPr>
        <p:spPr>
          <a:xfrm>
            <a:off x="4648320" y="1600200"/>
            <a:ext cx="4037040" cy="452448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0" name="PlaceHolder 4"/>
          <p:cNvSpPr>
            <a:spLocks noGrp="1"/>
          </p:cNvSpPr>
          <p:nvPr>
            <p:ph type="dt" idx="10"/>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21" name="PlaceHolder 5"/>
          <p:cNvSpPr>
            <a:spLocks noGrp="1"/>
          </p:cNvSpPr>
          <p:nvPr>
            <p:ph type="ftr" idx="11"/>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76D0BBD-15A5-4D29-814B-54211AA691D6}"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535040"/>
            <a:ext cx="4038840" cy="63828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5" name="PlaceHolder 3"/>
          <p:cNvSpPr>
            <a:spLocks noGrp="1"/>
          </p:cNvSpPr>
          <p:nvPr>
            <p:ph type="body"/>
          </p:nvPr>
        </p:nvSpPr>
        <p:spPr>
          <a:xfrm>
            <a:off x="457200" y="2174760"/>
            <a:ext cx="4038840" cy="394992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26" name="PlaceHolder 4"/>
          <p:cNvSpPr>
            <a:spLocks noGrp="1"/>
          </p:cNvSpPr>
          <p:nvPr>
            <p:ph type="body"/>
          </p:nvPr>
        </p:nvSpPr>
        <p:spPr>
          <a:xfrm>
            <a:off x="4645080" y="1535040"/>
            <a:ext cx="4040280" cy="63828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7" name="PlaceHolder 5"/>
          <p:cNvSpPr>
            <a:spLocks noGrp="1"/>
          </p:cNvSpPr>
          <p:nvPr>
            <p:ph type="body"/>
          </p:nvPr>
        </p:nvSpPr>
        <p:spPr>
          <a:xfrm>
            <a:off x="4645080" y="2174760"/>
            <a:ext cx="4040280" cy="394992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28" name="PlaceHolder 6"/>
          <p:cNvSpPr>
            <a:spLocks noGrp="1"/>
          </p:cNvSpPr>
          <p:nvPr>
            <p:ph type="dt" idx="13"/>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29" name="PlaceHolder 7"/>
          <p:cNvSpPr>
            <a:spLocks noGrp="1"/>
          </p:cNvSpPr>
          <p:nvPr>
            <p:ph type="ftr" idx="14"/>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D235762-7E20-4FF3-B159-A702F03C954E}"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2" name="PlaceHolder 2"/>
          <p:cNvSpPr>
            <a:spLocks noGrp="1"/>
          </p:cNvSpPr>
          <p:nvPr>
            <p:ph type="dt" idx="16"/>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33" name="PlaceHolder 3"/>
          <p:cNvSpPr>
            <a:spLocks noGrp="1"/>
          </p:cNvSpPr>
          <p:nvPr>
            <p:ph type="ftr" idx="17"/>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EE831F6-5EFC-489B-B58F-022FD7CF0D98}"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36" name="PlaceHolder 2"/>
          <p:cNvSpPr>
            <a:spLocks noGrp="1"/>
          </p:cNvSpPr>
          <p:nvPr>
            <p:ph type="ftr" idx="20"/>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41604F4-4C30-4504-AAC1-59A2006D6F5D}"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
        <p:nvSpPr>
          <p:cNvPr id="38" name="PlaceHolder 4"/>
          <p:cNvSpPr>
            <a:spLocks noGrp="1"/>
          </p:cNvSpPr>
          <p:nvPr>
            <p:ph type="title"/>
          </p:nvPr>
        </p:nvSpPr>
        <p:spPr>
          <a:xfrm>
            <a:off x="609480" y="273600"/>
            <a:ext cx="10971000" cy="1143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9" name="PlaceHolder 5"/>
          <p:cNvSpPr>
            <a:spLocks noGrp="1"/>
          </p:cNvSpPr>
          <p:nvPr>
            <p:ph type="body"/>
          </p:nvPr>
        </p:nvSpPr>
        <p:spPr>
          <a:xfrm>
            <a:off x="609480" y="1604520"/>
            <a:ext cx="10971000" cy="39762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2880"/>
            <a:ext cx="3006720" cy="116064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41" name="PlaceHolder 2"/>
          <p:cNvSpPr>
            <a:spLocks noGrp="1"/>
          </p:cNvSpPr>
          <p:nvPr>
            <p:ph type="body"/>
          </p:nvPr>
        </p:nvSpPr>
        <p:spPr>
          <a:xfrm>
            <a:off x="3575160" y="272880"/>
            <a:ext cx="5110200" cy="58518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42" name="PlaceHolder 3"/>
          <p:cNvSpPr>
            <a:spLocks noGrp="1"/>
          </p:cNvSpPr>
          <p:nvPr>
            <p:ph type="body"/>
          </p:nvPr>
        </p:nvSpPr>
        <p:spPr>
          <a:xfrm>
            <a:off x="457200" y="1434960"/>
            <a:ext cx="3006720" cy="468972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43" name="PlaceHolder 4"/>
          <p:cNvSpPr>
            <a:spLocks noGrp="1"/>
          </p:cNvSpPr>
          <p:nvPr>
            <p:ph type="dt" idx="22"/>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44" name="PlaceHolder 5"/>
          <p:cNvSpPr>
            <a:spLocks noGrp="1"/>
          </p:cNvSpPr>
          <p:nvPr>
            <p:ph type="ftr" idx="23"/>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45" name="PlaceHolder 6"/>
          <p:cNvSpPr>
            <a:spLocks noGrp="1"/>
          </p:cNvSpPr>
          <p:nvPr>
            <p:ph type="sldNum" idx="24"/>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DADC7B6-874E-4D61-A3E7-D7C38029B845}"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1792440" y="4800600"/>
            <a:ext cx="5484960" cy="56520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47" name="PlaceHolder 2"/>
          <p:cNvSpPr>
            <a:spLocks noGrp="1"/>
          </p:cNvSpPr>
          <p:nvPr>
            <p:ph type="body"/>
          </p:nvPr>
        </p:nvSpPr>
        <p:spPr>
          <a:xfrm>
            <a:off x="1792440" y="612720"/>
            <a:ext cx="5484960" cy="411336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1134"/>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85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567"/>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1134"/>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85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567"/>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48" name="PlaceHolder 3"/>
          <p:cNvSpPr>
            <a:spLocks noGrp="1"/>
          </p:cNvSpPr>
          <p:nvPr>
            <p:ph type="body"/>
          </p:nvPr>
        </p:nvSpPr>
        <p:spPr>
          <a:xfrm>
            <a:off x="1792440" y="5367240"/>
            <a:ext cx="5484960" cy="80352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49" name="PlaceHolder 4"/>
          <p:cNvSpPr>
            <a:spLocks noGrp="1"/>
          </p:cNvSpPr>
          <p:nvPr>
            <p:ph type="dt" idx="25"/>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0" name="PlaceHolder 5"/>
          <p:cNvSpPr>
            <a:spLocks noGrp="1"/>
          </p:cNvSpPr>
          <p:nvPr>
            <p:ph type="ftr" idx="26"/>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51" name="PlaceHolder 6"/>
          <p:cNvSpPr>
            <a:spLocks noGrp="1"/>
          </p:cNvSpPr>
          <p:nvPr>
            <p:ph type="sldNum" idx="27"/>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8CFA966-D7F1-4684-8AD9-2BFE50B66D9F}"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2130480"/>
            <a:ext cx="7770960" cy="146844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3" name="PlaceHolder 2"/>
          <p:cNvSpPr>
            <a:spLocks noGrp="1"/>
          </p:cNvSpPr>
          <p:nvPr>
            <p:ph type="dt" idx="28"/>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4" name="PlaceHolder 3"/>
          <p:cNvSpPr>
            <a:spLocks noGrp="1"/>
          </p:cNvSpPr>
          <p:nvPr>
            <p:ph type="ftr" idx="29"/>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55" name="PlaceHolder 4"/>
          <p:cNvSpPr>
            <a:spLocks noGrp="1"/>
          </p:cNvSpPr>
          <p:nvPr>
            <p:ph type="sldNum" idx="30"/>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88CE9ED-0A14-4A1F-A5AC-D86ACE002902}"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7" name="PlaceHolder 2"/>
          <p:cNvSpPr>
            <a:spLocks noGrp="1"/>
          </p:cNvSpPr>
          <p:nvPr>
            <p:ph type="body"/>
          </p:nvPr>
        </p:nvSpPr>
        <p:spPr>
          <a:xfrm>
            <a:off x="457200" y="1600200"/>
            <a:ext cx="8228160" cy="45244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8" name="PlaceHolder 3"/>
          <p:cNvSpPr>
            <a:spLocks noGrp="1"/>
          </p:cNvSpPr>
          <p:nvPr>
            <p:ph type="dt" idx="31"/>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9" name="PlaceHolder 4"/>
          <p:cNvSpPr>
            <a:spLocks noGrp="1"/>
          </p:cNvSpPr>
          <p:nvPr>
            <p:ph type="ftr" idx="32"/>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60" name="PlaceHolder 5"/>
          <p:cNvSpPr>
            <a:spLocks noGrp="1"/>
          </p:cNvSpPr>
          <p:nvPr>
            <p:ph type="sldNum" idx="33"/>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5259CE6-DC16-427A-B280-E9708E4F9BB2}" type="slidenum">
              <a:rPr lang="en-US" sz="1200" b="0" u="none" strike="noStrike">
                <a:solidFill>
                  <a:schemeClr val="dk1">
                    <a:tint val="75000"/>
                  </a:schemeClr>
                </a:solidFill>
                <a:effectLst/>
                <a:uFillTx/>
                <a:latin typeface="Calibri"/>
              </a:rPr>
              <a:t>&lt;number&gt;</a:t>
            </a:fld>
            <a:endParaRPr lang="en-AE"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1" name="TextBox 1"/>
          <p:cNvSpPr/>
          <p:nvPr/>
        </p:nvSpPr>
        <p:spPr>
          <a:xfrm>
            <a:off x="914400" y="2011680"/>
            <a:ext cx="10361520" cy="1827360"/>
          </a:xfrm>
          <a:prstGeom prst="rect">
            <a:avLst/>
          </a:prstGeom>
          <a:noFill/>
          <a:ln w="0">
            <a:noFill/>
          </a:ln>
        </p:spPr>
        <p:style>
          <a:lnRef idx="0"/>
          <a:fillRef idx="0"/>
          <a:effectRef idx="0"/>
          <a:fontRef idx="minor"/>
        </p:style>
        <p:txBody>
          <a:bodyPr lIns="90000" tIns="45000" rIns="90000" bIns="45000" anchor="t">
            <a:noAutofit/>
          </a:bodyPr>
          <a:p>
            <a:pPr algn="ctr" defTabSz="457200">
              <a:lnSpc>
                <a:spcPct val="100000"/>
              </a:lnSpc>
            </a:pPr>
            <a:r>
              <a:rPr lang="en-US" sz="4000" b="1" u="none" strike="noStrike">
                <a:solidFill>
                  <a:srgbClr val="FFFFFF"/>
                </a:solidFill>
                <a:effectLst/>
                <a:uFillTx/>
                <a:latin typeface="Lato"/>
              </a:rPr>
              <a:t>Pod 00: Prerequisites</a:t>
            </a:r>
            <a:endParaRPr lang="en-AE" sz="4000" b="0" u="none" strike="noStrike">
              <a:solidFill>
                <a:srgbClr val="FFFFFF"/>
              </a:solidFill>
              <a:effectLst/>
              <a:uFillTx/>
              <a:latin typeface="Arial"/>
            </a:endParaRPr>
          </a:p>
        </p:txBody>
      </p:sp>
      <p:sp>
        <p:nvSpPr>
          <p:cNvPr id="62" name="Rectangle 2"/>
          <p:cNvSpPr/>
          <p:nvPr/>
        </p:nvSpPr>
        <p:spPr>
          <a:xfrm>
            <a:off x="4267080" y="4023360"/>
            <a:ext cx="36561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3" name="TextBox 3"/>
          <p:cNvSpPr/>
          <p:nvPr/>
        </p:nvSpPr>
        <p:spPr>
          <a:xfrm>
            <a:off x="1371600" y="4297680"/>
            <a:ext cx="9447120" cy="9129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i="1" u="none" strike="noStrike">
                <a:solidFill>
                  <a:srgbClr val="4A90D9"/>
                </a:solidFill>
                <a:effectLst/>
                <a:uFillTx/>
                <a:latin typeface="Lato"/>
              </a:rPr>
              <a:t>Get set up before your first Learning Pod — do this on your own time</a:t>
            </a:r>
            <a:endParaRPr lang="en-AE" sz="2200" b="0" u="none" strike="noStrike">
              <a:solidFill>
                <a:srgbClr val="FFFFFF"/>
              </a:solidFill>
              <a:effectLst/>
              <a:uFillTx/>
              <a:latin typeface="Arial"/>
            </a:endParaRPr>
          </a:p>
        </p:txBody>
      </p:sp>
      <p:sp>
        <p:nvSpPr>
          <p:cNvPr id="64" name="TextBox 4"/>
          <p:cNvSpPr/>
          <p:nvPr/>
        </p:nvSpPr>
        <p:spPr>
          <a:xfrm>
            <a:off x="1371600" y="4572000"/>
            <a:ext cx="9447120" cy="9129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E0E0E0"/>
                </a:solidFill>
                <a:effectLst/>
                <a:uFillTx/>
                <a:latin typeface="Lato"/>
              </a:rPr>
              <a:t>Pre-work | Time needed: 20–30 minutes</a:t>
            </a:r>
            <a:endParaRPr lang="en-AE"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5" name="TextBox 5"/>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Pre-requisites before Session 1</a:t>
            </a:r>
            <a:endParaRPr lang="en-AE" sz="2800" b="0" u="none" strike="noStrike">
              <a:solidFill>
                <a:srgbClr val="FFFFFF"/>
              </a:solidFill>
              <a:effectLst/>
              <a:uFillTx/>
              <a:latin typeface="Arial"/>
            </a:endParaRPr>
          </a:p>
        </p:txBody>
      </p:sp>
      <p:sp>
        <p:nvSpPr>
          <p:cNvPr id="66" name="Rectangle 3"/>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7" name="TextBox 6"/>
          <p:cNvSpPr/>
          <p:nvPr/>
        </p:nvSpPr>
        <p:spPr>
          <a:xfrm>
            <a:off x="731520" y="1645920"/>
            <a:ext cx="1072728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199"/>
              </a:spcAft>
            </a:pPr>
            <a:r>
              <a:rPr lang="en-US" sz="1800" b="1" u="none" strike="noStrike">
                <a:solidFill>
                  <a:srgbClr val="4A90D9"/>
                </a:solidFill>
                <a:effectLst/>
                <a:uFillTx/>
                <a:latin typeface="Lato"/>
                <a:ea typeface="Noto Sans SC"/>
              </a:rPr>
              <a:t>1.  </a:t>
            </a:r>
            <a:r>
              <a:rPr lang="en-US" sz="1800" b="0" u="none" strike="noStrike">
                <a:solidFill>
                  <a:srgbClr val="E0E0E0"/>
                </a:solidFill>
                <a:effectLst/>
                <a:uFillTx/>
                <a:latin typeface="Lato"/>
                <a:ea typeface="Noto Sans SC"/>
              </a:rPr>
              <a:t>Download Claude Code (if you want to use it in command-line, also get warp.dev)</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ea typeface="Noto Sans SC"/>
              </a:rPr>
              <a:t>2.  </a:t>
            </a:r>
            <a:r>
              <a:rPr lang="en-US" sz="1800" b="0" u="none" strike="noStrike">
                <a:solidFill>
                  <a:srgbClr val="E0E0E0"/>
                </a:solidFill>
                <a:effectLst/>
                <a:uFillTx/>
                <a:latin typeface="Lato"/>
                <a:ea typeface="Noto Sans SC"/>
              </a:rPr>
              <a:t>Login to Claude Code with your team’s account</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ea typeface="Noto Sans SC"/>
              </a:rPr>
              <a:t>3.  </a:t>
            </a:r>
            <a:r>
              <a:rPr lang="en-US" sz="1800" b="0" u="none" strike="noStrike">
                <a:solidFill>
                  <a:srgbClr val="E0E0E0"/>
                </a:solidFill>
                <a:effectLst/>
                <a:uFillTx/>
                <a:latin typeface="Lato"/>
                <a:ea typeface="Noto Sans SC"/>
              </a:rPr>
              <a:t>Create a github account. It will be as important as your Google account.</a:t>
            </a:r>
            <a:endParaRPr lang="en-AE" sz="1800" b="0" u="none" strike="noStrike">
              <a:solidFill>
                <a:srgbClr val="FFFFFF"/>
              </a:solidFill>
              <a:effectLst/>
              <a:uFillTx/>
              <a:latin typeface="Arial"/>
            </a:endParaRPr>
          </a:p>
          <a:p>
            <a:pPr defTabSz="457200">
              <a:lnSpc>
                <a:spcPct val="100000"/>
              </a:lnSpc>
              <a:spcAft>
                <a:spcPts val="1199"/>
              </a:spcAft>
            </a:pPr>
            <a:endParaRPr lang="en-AE" sz="1800" b="0" u="none" strike="noStrike">
              <a:solidFill>
                <a:srgbClr val="FFFFFF"/>
              </a:solidFill>
              <a:effectLst/>
              <a:uFillTx/>
              <a:latin typeface="Arial"/>
            </a:endParaRPr>
          </a:p>
          <a:p>
            <a:pPr defTabSz="457200">
              <a:lnSpc>
                <a:spcPct val="100000"/>
              </a:lnSpc>
              <a:spcAft>
                <a:spcPts val="1199"/>
              </a:spcAft>
            </a:pPr>
            <a:r>
              <a:rPr lang="en-US" sz="1800" b="0" u="none" strike="noStrike">
                <a:solidFill>
                  <a:srgbClr val="E0E0E0"/>
                </a:solidFill>
                <a:effectLst/>
                <a:uFillTx/>
                <a:latin typeface="Lato"/>
                <a:ea typeface="Noto Sans SC"/>
              </a:rPr>
              <a:t>That’s it.</a:t>
            </a:r>
            <a:endParaRPr lang="en-AE" sz="1800" b="0" u="none" strike="noStrike">
              <a:solidFill>
                <a:srgbClr val="FFFFFF"/>
              </a:solidFill>
              <a:effectLst/>
              <a:uFillTx/>
              <a:latin typeface="Arial"/>
            </a:endParaRPr>
          </a:p>
          <a:p>
            <a:pPr defTabSz="457200">
              <a:lnSpc>
                <a:spcPct val="100000"/>
              </a:lnSpc>
              <a:spcAft>
                <a:spcPts val="1199"/>
              </a:spcAft>
            </a:pPr>
            <a:r>
              <a:rPr lang="en-US" sz="1800" b="0" u="none" strike="noStrike">
                <a:solidFill>
                  <a:srgbClr val="E0E0E0"/>
                </a:solidFill>
                <a:effectLst/>
                <a:uFillTx/>
                <a:latin typeface="Lato"/>
                <a:ea typeface="Noto Sans SC"/>
              </a:rPr>
              <a:t>If you set it up correctly, we will all be able to collaborate on Claude Code projects when we start the learning pod.</a:t>
            </a:r>
            <a:endParaRPr lang="en-AE" sz="1800" b="0" u="none" strike="noStrike">
              <a:solidFill>
                <a:srgbClr val="FFFFFF"/>
              </a:solidFill>
              <a:effectLst/>
              <a:uFillTx/>
              <a:latin typeface="Arial"/>
            </a:endParaRPr>
          </a:p>
          <a:p>
            <a:pPr defTabSz="457200">
              <a:lnSpc>
                <a:spcPct val="100000"/>
              </a:lnSpc>
              <a:spcAft>
                <a:spcPts val="1199"/>
              </a:spcAft>
            </a:pPr>
            <a:endParaRPr lang="en-AE" sz="1800" b="0" u="none" strike="noStrike">
              <a:solidFill>
                <a:srgbClr val="FFFFFF"/>
              </a:solidFill>
              <a:effectLst/>
              <a:uFillTx/>
              <a:latin typeface="Arial"/>
            </a:endParaRPr>
          </a:p>
          <a:p>
            <a:pPr defTabSz="457200">
              <a:lnSpc>
                <a:spcPct val="100000"/>
              </a:lnSpc>
              <a:spcAft>
                <a:spcPts val="1199"/>
              </a:spcAft>
            </a:pPr>
            <a:r>
              <a:rPr lang="en-US" sz="1800" b="0" u="none" strike="noStrike">
                <a:solidFill>
                  <a:srgbClr val="E0E0E0"/>
                </a:solidFill>
                <a:effectLst/>
                <a:uFillTx/>
                <a:latin typeface="Lato"/>
                <a:ea typeface="Noto Sans SC"/>
              </a:rPr>
              <a:t>Setup details follow. If you already have one or more of these tools, skip to the next step.</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8" name="TextBox 1"/>
          <p:cNvSpPr/>
          <p:nvPr/>
        </p:nvSpPr>
        <p:spPr>
          <a:xfrm>
            <a:off x="838800" y="2560320"/>
            <a:ext cx="1036152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FFFFFF"/>
                </a:solidFill>
                <a:effectLst/>
                <a:uFillTx/>
                <a:latin typeface="Lato"/>
              </a:rPr>
              <a:t>Step 1: Claude Code </a:t>
            </a:r>
            <a:endParaRPr lang="en-AE" sz="3200" b="0" u="none" strike="noStrike">
              <a:solidFill>
                <a:srgbClr val="FFFFFF"/>
              </a:solidFill>
              <a:effectLst/>
              <a:uFillTx/>
              <a:latin typeface="Arial"/>
            </a:endParaRPr>
          </a:p>
        </p:txBody>
      </p:sp>
      <p:sp>
        <p:nvSpPr>
          <p:cNvPr id="69" name="Rectangle 2"/>
          <p:cNvSpPr/>
          <p:nvPr/>
        </p:nvSpPr>
        <p:spPr>
          <a:xfrm>
            <a:off x="4724280" y="4114800"/>
            <a:ext cx="27417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70" name=""/>
          <p:cNvSpPr/>
          <p:nvPr/>
        </p:nvSpPr>
        <p:spPr>
          <a:xfrm>
            <a:off x="4800600" y="3657600"/>
            <a:ext cx="297072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E" sz="1800" b="0" i="1" u="none" strike="noStrike">
                <a:solidFill>
                  <a:srgbClr val="FFFFFF"/>
                </a:solidFill>
                <a:effectLst/>
                <a:uFillTx/>
                <a:latin typeface="Arial"/>
              </a:rPr>
              <a:t>Takes approx 5-10 min</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1" name="TextBox 12"/>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Understanding Claude’s Offerings</a:t>
            </a:r>
            <a:endParaRPr lang="en-AE" sz="2800" b="0" u="none" strike="noStrike">
              <a:solidFill>
                <a:srgbClr val="FFFFFF"/>
              </a:solidFill>
              <a:effectLst/>
              <a:uFillTx/>
              <a:latin typeface="Arial"/>
            </a:endParaRPr>
          </a:p>
        </p:txBody>
      </p:sp>
      <p:graphicFrame>
        <p:nvGraphicFramePr>
          <p:cNvPr id="72" name="Table 3"/>
          <p:cNvGraphicFramePr/>
          <p:nvPr/>
        </p:nvGraphicFramePr>
        <p:xfrm>
          <a:off x="613440" y="1201680"/>
          <a:ext cx="11044800" cy="3989880"/>
        </p:xfrm>
        <a:graphic>
          <a:graphicData uri="http://schemas.openxmlformats.org/drawingml/2006/table">
            <a:tbl>
              <a:tblPr/>
              <a:tblGrid>
                <a:gridCol w="1695240"/>
                <a:gridCol w="2881800"/>
                <a:gridCol w="6468120"/>
              </a:tblGrid>
              <a:tr h="422640">
                <a:tc>
                  <a:txBody>
                    <a:bodyPr anchor="t">
                      <a:noAutofit/>
                    </a:bodyPr>
                    <a:p>
                      <a:pPr defTabSz="457200">
                        <a:lnSpc>
                          <a:spcPct val="100000"/>
                        </a:lnSpc>
                      </a:pPr>
                      <a:r>
                        <a:rPr lang="en-US" sz="1400" b="1" u="none" strike="noStrike">
                          <a:solidFill>
                            <a:srgbClr val="FFFFFF"/>
                          </a:solidFill>
                          <a:effectLst/>
                          <a:uFillTx/>
                          <a:latin typeface="Lato"/>
                        </a:rPr>
                        <a:t>Offering</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nchor="t">
                      <a:noAutofit/>
                    </a:bodyPr>
                    <a:p>
                      <a:pPr>
                        <a:lnSpc>
                          <a:spcPct val="100000"/>
                        </a:lnSpc>
                      </a:pPr>
                      <a:r>
                        <a:rPr lang="en-US" sz="1400" b="1" u="none" strike="noStrike">
                          <a:solidFill>
                            <a:srgbClr val="FFFFFF"/>
                          </a:solidFill>
                          <a:effectLst/>
                          <a:uFillTx/>
                          <a:latin typeface="Lato"/>
                        </a:rPr>
                        <a:t>What can it do?</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nchor="t">
                      <a:noAutofit/>
                    </a:bodyPr>
                    <a:p>
                      <a:pPr defTabSz="457200">
                        <a:lnSpc>
                          <a:spcPct val="100000"/>
                        </a:lnSpc>
                      </a:pPr>
                      <a:r>
                        <a:rPr lang="en-US" sz="1400" b="1" u="none" strike="noStrike">
                          <a:solidFill>
                            <a:srgbClr val="FFFFFF"/>
                          </a:solidFill>
                          <a:effectLst/>
                          <a:uFillTx/>
                          <a:latin typeface="Lato"/>
                        </a:rPr>
                        <a:t>Relevant to this course?</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Claude.ai</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a:lnSpc>
                          <a:spcPct val="100000"/>
                        </a:lnSpc>
                      </a:pPr>
                      <a:r>
                        <a:rPr lang="en-US" sz="1200" b="0" u="none" strike="noStrike">
                          <a:solidFill>
                            <a:srgbClr val="E0E0E0"/>
                          </a:solidFill>
                          <a:effectLst/>
                          <a:uFillTx/>
                          <a:latin typeface="Lato"/>
                        </a:rPr>
                        <a:t>Similar to chatgpt.com – you send some text, it sends back text</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defTabSz="457200">
                        <a:lnSpc>
                          <a:spcPct val="100000"/>
                        </a:lnSpc>
                      </a:pPr>
                      <a:r>
                        <a:rPr lang="en-US" sz="1200" b="0" u="none" strike="noStrike">
                          <a:solidFill>
                            <a:srgbClr val="E0E0E0"/>
                          </a:solidFill>
                          <a:effectLst/>
                          <a:uFillTx/>
                          <a:latin typeface="Lato"/>
                        </a:rPr>
                        <a:t>No, it’s useless for problem solving. </a:t>
                      </a:r>
                      <a:br>
                        <a:rPr sz="1200"/>
                      </a:br>
                      <a:r>
                        <a:rPr lang="en-US" sz="1200" b="0" u="none" strike="noStrike">
                          <a:solidFill>
                            <a:srgbClr val="E0E0E0"/>
                          </a:solidFill>
                          <a:effectLst/>
                          <a:uFillTx/>
                          <a:latin typeface="Lato"/>
                        </a:rPr>
                        <a:t>We don’t want answers, we want results.</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Claude for Desktop</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Desktop App that lives in your machine. It can access all data in your machine, and run code on your behalf.</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Yes, but only the “Code” tab, not “Cowork” and definitely not “Chat”.</a:t>
                      </a:r>
                      <a:br>
                        <a:rPr sz="1200"/>
                      </a:br>
                      <a:br>
                        <a:rPr sz="1200"/>
                      </a:br>
                      <a:r>
                        <a:rPr lang="en-US" sz="1200" b="0" u="none" strike="noStrike">
                          <a:solidFill>
                            <a:srgbClr val="E0E0E0"/>
                          </a:solidFill>
                          <a:effectLst/>
                          <a:uFillTx/>
                          <a:latin typeface="Lato"/>
                        </a:rPr>
                        <a:t>AI doing things for you is dangerous (it could wipe out your hard disk). </a:t>
                      </a:r>
                      <a:br>
                        <a:rPr sz="1200"/>
                      </a:br>
                      <a:r>
                        <a:rPr lang="en-US" sz="1200" b="0" u="none" strike="noStrike">
                          <a:solidFill>
                            <a:srgbClr val="E0E0E0"/>
                          </a:solidFill>
                          <a:effectLst/>
                          <a:uFillTx/>
                          <a:latin typeface="Lato"/>
                        </a:rPr>
                        <a:t>So, Anthropic has built multiple versions with differing level of guardrails. </a:t>
                      </a:r>
                      <a:br>
                        <a:rPr sz="1200"/>
                      </a:br>
                      <a:r>
                        <a:rPr lang="en-US" sz="1200" b="0" u="none" strike="noStrike">
                          <a:solidFill>
                            <a:srgbClr val="E0E0E0"/>
                          </a:solidFill>
                          <a:effectLst/>
                          <a:uFillTx/>
                          <a:latin typeface="Lato"/>
                        </a:rPr>
                        <a:t>My only problem with this is it often tells me to do the thing instead of doing the thing. But the “Code” tab gets you 95% of the way there. </a:t>
                      </a:r>
                      <a:br>
                        <a:rPr sz="1200"/>
                      </a:br>
                      <a:br>
                        <a:rPr sz="1200"/>
                      </a:br>
                      <a:r>
                        <a:rPr lang="en-US" sz="1200" b="0" u="none" strike="noStrike">
                          <a:solidFill>
                            <a:srgbClr val="E0E0E0"/>
                          </a:solidFill>
                          <a:effectLst/>
                          <a:uFillTx/>
                          <a:latin typeface="Lato"/>
                        </a:rPr>
                        <a:t>So if you feel any fear / friction in getting started, just use this. It’s not much different from using any other desktop application (word / excel / whatever)</a:t>
                      </a:r>
                      <a:br>
                        <a:rPr sz="1200"/>
                      </a:b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Claude Code CLI</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This is what “Claude for Desktop” is using in the backend. It is the most configurable, reliable, powerful way to get AI to do things for you.</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Yes. This is legit.</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Command line interfaces give you complete control of your computer.</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Using claude via commandline gives claude complete control of your computer. </a:t>
                      </a:r>
                      <a:endParaRPr lang="en-AE" sz="1200" b="0" u="none" strike="noStrike">
                        <a:solidFill>
                          <a:srgbClr val="FFFFFF"/>
                        </a:solidFill>
                        <a:effectLst/>
                        <a:uFillTx/>
                        <a:latin typeface="Arial"/>
                      </a:endParaRPr>
                    </a:p>
                    <a:p>
                      <a:pPr defTabSz="457200">
                        <a:lnSpc>
                          <a:spcPct val="100000"/>
                        </a:lnSpc>
                      </a:pP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Your computer can access </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But people find terminal / commandline irritating, and I won’t force you to do it.</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r>
            </a:tbl>
          </a:graphicData>
        </a:graphic>
      </p:graphicFrame>
      <p:sp>
        <p:nvSpPr>
          <p:cNvPr id="73" name=""/>
          <p:cNvSpPr/>
          <p:nvPr/>
        </p:nvSpPr>
        <p:spPr>
          <a:xfrm>
            <a:off x="2057400" y="5715000"/>
            <a:ext cx="7771680" cy="912600"/>
          </a:xfrm>
          <a:prstGeom prst="rect">
            <a:avLst/>
          </a:prstGeom>
          <a:noFill/>
          <a:ln w="0">
            <a:noFill/>
          </a:ln>
        </p:spPr>
        <p:style>
          <a:lnRef idx="0"/>
          <a:fillRef idx="0"/>
          <a:effectRef idx="0"/>
          <a:fontRef idx="minor"/>
        </p:style>
        <p:txBody>
          <a:bodyPr lIns="90000" tIns="45000" rIns="90000" bIns="45000" anchor="t" anchorCtr="1">
            <a:spAutoFit/>
          </a:bodyPr>
          <a:p>
            <a:pPr algn="ctr">
              <a:lnSpc>
                <a:spcPct val="100000"/>
              </a:lnSpc>
            </a:pPr>
            <a:r>
              <a:rPr lang="en-AE" sz="1800" b="0" u="none" strike="noStrike">
                <a:solidFill>
                  <a:srgbClr val="FFFFFF"/>
                </a:solidFill>
                <a:effectLst/>
                <a:uFillTx/>
                <a:latin typeface="Arial"/>
              </a:rPr>
              <a:t>Either use the “Code” tab in the Claude Desktop app (easier, faster). </a:t>
            </a:r>
            <a:br>
              <a:rPr sz="1800"/>
            </a:br>
            <a:r>
              <a:rPr lang="en-AE" sz="1800" b="0" u="none" strike="noStrike">
                <a:solidFill>
                  <a:srgbClr val="FFFFFF"/>
                </a:solidFill>
                <a:effectLst/>
                <a:uFillTx/>
                <a:latin typeface="Arial"/>
              </a:rPr>
              <a:t>Or, install Claude Code via terminal (harder, better). </a:t>
            </a:r>
            <a:endParaRPr lang="en-AE" sz="1800" b="0" u="none" strike="noStrike">
              <a:solidFill>
                <a:srgbClr val="FFFFFF"/>
              </a:solidFill>
              <a:effectLst/>
              <a:uFillTx/>
              <a:latin typeface="Arial"/>
            </a:endParaRPr>
          </a:p>
          <a:p>
            <a:pPr algn="ctr">
              <a:lnSpc>
                <a:spcPct val="100000"/>
              </a:lnSpc>
            </a:pP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4" name="TextBox 1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Decide your final setup</a:t>
            </a:r>
            <a:endParaRPr lang="en-AE" sz="2800" b="0" u="none" strike="noStrike">
              <a:solidFill>
                <a:srgbClr val="FFFFFF"/>
              </a:solidFill>
              <a:effectLst/>
              <a:uFillTx/>
              <a:latin typeface="Arial"/>
            </a:endParaRPr>
          </a:p>
        </p:txBody>
      </p:sp>
      <p:graphicFrame>
        <p:nvGraphicFramePr>
          <p:cNvPr id="75" name="Table 4"/>
          <p:cNvGraphicFramePr/>
          <p:nvPr/>
        </p:nvGraphicFramePr>
        <p:xfrm>
          <a:off x="731520" y="1645920"/>
          <a:ext cx="9401040" cy="1886400"/>
        </p:xfrm>
        <a:graphic>
          <a:graphicData uri="http://schemas.openxmlformats.org/drawingml/2006/table">
            <a:tbl>
              <a:tblPr/>
              <a:tblGrid>
                <a:gridCol w="2997000"/>
                <a:gridCol w="2993400"/>
                <a:gridCol w="3411000"/>
              </a:tblGrid>
              <a:tr h="422640">
                <a:tc>
                  <a:txBody>
                    <a:bodyPr anchor="t">
                      <a:noAutofit/>
                    </a:bodyPr>
                    <a:p>
                      <a:pPr defTabSz="457200">
                        <a:lnSpc>
                          <a:spcPct val="100000"/>
                        </a:lnSpc>
                      </a:pPr>
                      <a:r>
                        <a:rPr lang="en-US" sz="1400" b="1" u="none" strike="noStrike">
                          <a:solidFill>
                            <a:srgbClr val="FFFFFF"/>
                          </a:solidFill>
                          <a:effectLst/>
                          <a:uFillTx/>
                          <a:latin typeface="Lato"/>
                        </a:rPr>
                        <a:t>Situation</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nchor="t">
                      <a:noAutofit/>
                    </a:bodyPr>
                    <a:p>
                      <a:pPr>
                        <a:lnSpc>
                          <a:spcPct val="100000"/>
                        </a:lnSpc>
                      </a:pPr>
                      <a:r>
                        <a:rPr lang="en-US" sz="1400" b="1" u="none" strike="noStrike">
                          <a:solidFill>
                            <a:srgbClr val="FFFFFF"/>
                          </a:solidFill>
                          <a:effectLst/>
                          <a:uFillTx/>
                          <a:latin typeface="Lato"/>
                        </a:rPr>
                        <a:t>Suggested setup</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nchor="t">
                      <a:noAutofit/>
                    </a:bodyPr>
                    <a:p>
                      <a:pPr defTabSz="457200">
                        <a:lnSpc>
                          <a:spcPct val="100000"/>
                        </a:lnSpc>
                      </a:pPr>
                      <a:r>
                        <a:rPr lang="en-US" sz="1400" b="1" u="none" strike="noStrike">
                          <a:solidFill>
                            <a:srgbClr val="FFFFFF"/>
                          </a:solidFill>
                          <a:effectLst/>
                          <a:uFillTx/>
                          <a:latin typeface="Lato"/>
                        </a:rPr>
                        <a:t>Why?</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I’m not technically proficient (eg. haven’t built a complex Excel file / Slack automation / n8n workflow )</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a:lnSpc>
                          <a:spcPct val="100000"/>
                        </a:lnSpc>
                      </a:pPr>
                      <a:r>
                        <a:rPr lang="en-US" sz="1200" b="0" u="none" strike="noStrike">
                          <a:solidFill>
                            <a:srgbClr val="E0E0E0"/>
                          </a:solidFill>
                          <a:effectLst/>
                          <a:uFillTx/>
                          <a:latin typeface="Lato"/>
                        </a:rPr>
                        <a:t>Just get the Claude Desktop app – Step 1a</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defTabSz="457200">
                        <a:lnSpc>
                          <a:spcPct val="100000"/>
                        </a:lnSpc>
                      </a:pPr>
                      <a:r>
                        <a:rPr lang="en-US" sz="1200" b="0" u="none" strike="noStrike">
                          <a:solidFill>
                            <a:srgbClr val="E0E0E0"/>
                          </a:solidFill>
                          <a:effectLst/>
                          <a:uFillTx/>
                          <a:latin typeface="Lato"/>
                        </a:rPr>
                        <a:t>Very Easy, you can upgrade later.</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r>
              <a:tr h="411480">
                <a:tc>
                  <a:txBody>
                    <a:bodyPr anchor="t">
                      <a:noAutofit/>
                    </a:bodyPr>
                    <a:p>
                      <a:pPr>
                        <a:lnSpc>
                          <a:spcPct val="100000"/>
                        </a:lnSpc>
                      </a:pPr>
                      <a:r>
                        <a:rPr lang="en-US" sz="1200" b="0" u="none" strike="noStrike">
                          <a:solidFill>
                            <a:srgbClr val="E0E0E0"/>
                          </a:solidFill>
                          <a:effectLst/>
                          <a:uFillTx/>
                          <a:latin typeface="Lato"/>
                        </a:rPr>
                        <a:t>I’m am technically proficient (eg. have built a complex Excel file / Slack automation / n8n workflow)</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a:lnSpc>
                          <a:spcPct val="100000"/>
                        </a:lnSpc>
                      </a:pPr>
                      <a:r>
                        <a:rPr lang="en-US" sz="1200" b="0" u="none" strike="noStrike">
                          <a:solidFill>
                            <a:srgbClr val="E0E0E0"/>
                          </a:solidFill>
                          <a:effectLst/>
                          <a:uFillTx/>
                          <a:latin typeface="Lato"/>
                        </a:rPr>
                        <a:t>Try getting Claude Code – Steps 1a, 1b, 1c</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More powerful (slightly), is more transparent about what AI is doing, </a:t>
                      </a:r>
                      <a:br>
                        <a:rPr sz="1200"/>
                      </a:br>
                      <a:r>
                        <a:rPr lang="en-US" sz="1200" b="0" u="none" strike="noStrike">
                          <a:solidFill>
                            <a:srgbClr val="E0E0E0"/>
                          </a:solidFill>
                          <a:effectLst/>
                          <a:uFillTx/>
                          <a:latin typeface="Lato"/>
                        </a:rPr>
                        <a:t>and will force you to become more technical over time (good)</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r>
            </a:tbl>
          </a:graphicData>
        </a:graphic>
      </p:graphicFrame>
      <p:sp>
        <p:nvSpPr>
          <p:cNvPr id="76" name=""/>
          <p:cNvSpPr/>
          <p:nvPr/>
        </p:nvSpPr>
        <p:spPr>
          <a:xfrm>
            <a:off x="914400" y="4114800"/>
            <a:ext cx="9143640" cy="1461240"/>
          </a:xfrm>
          <a:prstGeom prst="rect">
            <a:avLst/>
          </a:prstGeom>
          <a:noFill/>
          <a:ln w="0">
            <a:noFill/>
          </a:ln>
        </p:spPr>
        <p:style>
          <a:lnRef idx="0"/>
          <a:fillRef idx="0"/>
          <a:effectRef idx="0"/>
          <a:fontRef idx="minor"/>
        </p:style>
        <p:txBody>
          <a:bodyPr lIns="90000" tIns="45000" rIns="90000" bIns="45000" anchor="t" anchorCtr="1">
            <a:spAutoFit/>
          </a:bodyPr>
          <a:p>
            <a:pPr algn="ctr">
              <a:lnSpc>
                <a:spcPct val="100000"/>
              </a:lnSpc>
            </a:pPr>
            <a:r>
              <a:rPr lang="en-AE" sz="1800" b="0" u="none" strike="noStrike">
                <a:solidFill>
                  <a:srgbClr val="FFFFFF"/>
                </a:solidFill>
                <a:effectLst/>
                <a:uFillTx/>
                <a:latin typeface="Arial"/>
              </a:rPr>
              <a:t>Both choices are fine. But if you use the desktop app, make sure you’re using the “Code” tab – not “Chat”, not “Cowork”.</a:t>
            </a:r>
            <a:endParaRPr lang="en-AE" sz="1800" b="0" u="none" strike="noStrike">
              <a:solidFill>
                <a:srgbClr val="FFFFFF"/>
              </a:solidFill>
              <a:effectLst/>
              <a:uFillTx/>
              <a:latin typeface="Arial"/>
            </a:endParaRPr>
          </a:p>
          <a:p>
            <a:pPr algn="ctr">
              <a:lnSpc>
                <a:spcPct val="100000"/>
              </a:lnSpc>
            </a:pPr>
            <a:endParaRPr lang="en-AE" sz="1800" b="0" u="none" strike="noStrike">
              <a:solidFill>
                <a:srgbClr val="FFFFFF"/>
              </a:solidFill>
              <a:effectLst/>
              <a:uFillTx/>
              <a:latin typeface="Arial"/>
            </a:endParaRPr>
          </a:p>
          <a:p>
            <a:pPr algn="ctr">
              <a:lnSpc>
                <a:spcPct val="100000"/>
              </a:lnSpc>
            </a:pPr>
            <a:endParaRPr lang="en-AE" sz="1800" b="0" u="none" strike="noStrike">
              <a:solidFill>
                <a:srgbClr val="FFFFFF"/>
              </a:solidFill>
              <a:effectLst/>
              <a:uFillTx/>
              <a:latin typeface="Arial"/>
            </a:endParaRPr>
          </a:p>
          <a:p>
            <a:pPr algn="ctr">
              <a:lnSpc>
                <a:spcPct val="100000"/>
              </a:lnSpc>
            </a:pPr>
            <a:r>
              <a:rPr lang="en-AE" sz="1800" b="0" u="none" strike="noStrike">
                <a:solidFill>
                  <a:srgbClr val="FFFFFF"/>
                </a:solidFill>
                <a:effectLst/>
                <a:uFillTx/>
                <a:latin typeface="Arial"/>
              </a:rPr>
              <a:t>Hereafter, we’ll refer to both as “Claude Code”. Do whatever works best for you. </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7" name="TextBox 1"/>
          <p:cNvSpPr/>
          <p:nvPr/>
        </p:nvSpPr>
        <p:spPr>
          <a:xfrm>
            <a:off x="914400" y="2560320"/>
            <a:ext cx="1036152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FFFFFF"/>
                </a:solidFill>
                <a:effectLst/>
                <a:uFillTx/>
                <a:latin typeface="Lato"/>
              </a:rPr>
              <a:t>Step 1a  (Easy) : Claude Desktop</a:t>
            </a:r>
            <a:endParaRPr lang="en-AE" sz="3200" b="0" u="none" strike="noStrike">
              <a:solidFill>
                <a:srgbClr val="FFFFFF"/>
              </a:solidFill>
              <a:effectLst/>
              <a:uFillTx/>
              <a:latin typeface="Arial"/>
            </a:endParaRPr>
          </a:p>
        </p:txBody>
      </p:sp>
      <p:sp>
        <p:nvSpPr>
          <p:cNvPr id="78" name="Rectangle 2"/>
          <p:cNvSpPr/>
          <p:nvPr/>
        </p:nvSpPr>
        <p:spPr>
          <a:xfrm>
            <a:off x="4724280" y="4114800"/>
            <a:ext cx="27417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9" name="TextBox 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1a. Install Claude Desktop</a:t>
            </a:r>
            <a:endParaRPr lang="en-AE" sz="2800" b="0" u="none" strike="noStrike">
              <a:solidFill>
                <a:srgbClr val="FFFFFF"/>
              </a:solidFill>
              <a:effectLst/>
              <a:uFillTx/>
              <a:latin typeface="Arial"/>
            </a:endParaRPr>
          </a:p>
        </p:txBody>
      </p:sp>
      <p:sp>
        <p:nvSpPr>
          <p:cNvPr id="80" name="Rectangle 2"/>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1" name="TextBox 3"/>
          <p:cNvSpPr/>
          <p:nvPr/>
        </p:nvSpPr>
        <p:spPr>
          <a:xfrm>
            <a:off x="731520" y="1645920"/>
            <a:ext cx="978372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199"/>
              </a:spcAft>
            </a:pPr>
            <a:r>
              <a:rPr lang="en-US" sz="1800" b="1" u="none" strike="noStrike">
                <a:solidFill>
                  <a:srgbClr val="4A90D9"/>
                </a:solidFill>
                <a:effectLst/>
                <a:uFillTx/>
                <a:latin typeface="Lato"/>
              </a:rPr>
              <a:t>1.  </a:t>
            </a:r>
            <a:r>
              <a:rPr lang="en-US" sz="1800" b="0" u="none" strike="noStrike">
                <a:solidFill>
                  <a:srgbClr val="E0E0E0"/>
                </a:solidFill>
                <a:effectLst/>
                <a:uFillTx/>
                <a:latin typeface="Lato"/>
              </a:rPr>
              <a:t>Go to claude.ai/download and click Download for your OS</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2.  </a:t>
            </a:r>
            <a:r>
              <a:rPr lang="en-US" sz="1800" b="0" u="none" strike="noStrike">
                <a:solidFill>
                  <a:srgbClr val="E0E0E0"/>
                </a:solidFill>
                <a:effectLst/>
                <a:uFillTx/>
                <a:latin typeface="Lato"/>
              </a:rPr>
              <a:t>Install it, open the app, and sign in with your Claude Pro or Max account</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3.  </a:t>
            </a:r>
            <a:r>
              <a:rPr lang="en-US" sz="1800" b="0" u="none" strike="noStrike">
                <a:solidFill>
                  <a:srgbClr val="E0E0E0"/>
                </a:solidFill>
                <a:effectLst/>
                <a:uFillTx/>
                <a:latin typeface="Lato"/>
              </a:rPr>
              <a:t>Go to the “Code” tab. It should ask you to select a folder to work in.</a:t>
            </a:r>
            <a:br>
              <a:rPr sz="1800"/>
            </a:br>
            <a:r>
              <a:rPr lang="en-US" sz="1800" b="0" u="none" strike="noStrike">
                <a:solidFill>
                  <a:srgbClr val="E0E0E0"/>
                </a:solidFill>
                <a:effectLst/>
                <a:uFillTx/>
                <a:latin typeface="Lato"/>
              </a:rPr>
              <a:t>     Select desktop, and test, “Can you describe what you see in this folder”</a:t>
            </a:r>
            <a:endParaRPr lang="en-AE" sz="1800" b="0" u="none" strike="noStrike">
              <a:solidFill>
                <a:srgbClr val="FFFFFF"/>
              </a:solidFill>
              <a:effectLst/>
              <a:uFillTx/>
              <a:latin typeface="Arial"/>
            </a:endParaRPr>
          </a:p>
        </p:txBody>
      </p:sp>
      <p:pic>
        <p:nvPicPr>
          <p:cNvPr id="82" name=""/>
          <p:cNvPicPr/>
          <p:nvPr/>
        </p:nvPicPr>
        <p:blipFill>
          <a:blip r:embed="rId1"/>
          <a:stretch/>
        </p:blipFill>
        <p:spPr>
          <a:xfrm>
            <a:off x="3657600" y="4715280"/>
            <a:ext cx="3295080" cy="1456560"/>
          </a:xfrm>
          <a:prstGeom prst="rect">
            <a:avLst/>
          </a:prstGeom>
          <a:noFill/>
          <a:ln w="0">
            <a:noFill/>
          </a:ln>
        </p:spPr>
      </p:pic>
      <p:sp>
        <p:nvSpPr>
          <p:cNvPr id="83" name=""/>
          <p:cNvSpPr/>
          <p:nvPr/>
        </p:nvSpPr>
        <p:spPr>
          <a:xfrm>
            <a:off x="3200400" y="3942360"/>
            <a:ext cx="4571640" cy="8578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E" sz="1800" b="0" u="none" strike="noStrike">
                <a:solidFill>
                  <a:srgbClr val="FFFFFF"/>
                </a:solidFill>
                <a:effectLst/>
                <a:uFillTx/>
                <a:latin typeface="Arial"/>
              </a:rPr>
              <a:t>If you don’t have a claude account, check with the relevant person on your team</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4" name="TextBox 1"/>
          <p:cNvSpPr/>
          <p:nvPr/>
        </p:nvSpPr>
        <p:spPr>
          <a:xfrm>
            <a:off x="914400" y="2560320"/>
            <a:ext cx="1036152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FFFFFF"/>
                </a:solidFill>
                <a:effectLst/>
                <a:uFillTx/>
                <a:latin typeface="Lato"/>
              </a:rPr>
              <a:t>Step 1b (Harder) : Claude Code via Terminal</a:t>
            </a:r>
            <a:endParaRPr lang="en-AE" sz="3200" b="0" u="none" strike="noStrike">
              <a:solidFill>
                <a:srgbClr val="FFFFFF"/>
              </a:solidFill>
              <a:effectLst/>
              <a:uFillTx/>
              <a:latin typeface="Arial"/>
            </a:endParaRPr>
          </a:p>
        </p:txBody>
      </p:sp>
      <p:sp>
        <p:nvSpPr>
          <p:cNvPr id="85" name="Rectangle 2"/>
          <p:cNvSpPr/>
          <p:nvPr/>
        </p:nvSpPr>
        <p:spPr>
          <a:xfrm>
            <a:off x="4724280" y="4114800"/>
            <a:ext cx="27417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6" name=""/>
          <p:cNvSpPr/>
          <p:nvPr/>
        </p:nvSpPr>
        <p:spPr>
          <a:xfrm>
            <a:off x="2057400" y="3750120"/>
            <a:ext cx="8000280" cy="363960"/>
          </a:xfrm>
          <a:prstGeom prst="rect">
            <a:avLst/>
          </a:prstGeom>
          <a:noFill/>
          <a:ln w="0">
            <a:noFill/>
          </a:ln>
        </p:spPr>
        <p:style>
          <a:lnRef idx="0"/>
          <a:fillRef idx="0"/>
          <a:effectRef idx="0"/>
          <a:fontRef idx="minor"/>
        </p:style>
        <p:txBody>
          <a:bodyPr lIns="90000" tIns="45000" rIns="90000" bIns="45000" anchor="t" anchorCtr="1">
            <a:spAutoFit/>
          </a:bodyPr>
          <a:p>
            <a:pPr algn="ctr">
              <a:lnSpc>
                <a:spcPct val="100000"/>
              </a:lnSpc>
            </a:pPr>
            <a:r>
              <a:rPr lang="en-AE" sz="1800" b="0" i="1" u="none" strike="noStrike">
                <a:solidFill>
                  <a:srgbClr val="FFFFFF"/>
                </a:solidFill>
                <a:effectLst/>
                <a:uFillTx/>
                <a:latin typeface="Arial"/>
              </a:rPr>
              <a:t>Optional</a:t>
            </a:r>
            <a:endParaRPr lang="en-AE" sz="1800" b="0" u="none" strike="noStrike">
              <a:solidFill>
                <a:srgbClr val="FFFFFF"/>
              </a:solidFill>
              <a:effectLst/>
              <a:uFillTx/>
              <a:latin typeface="Arial"/>
            </a:endParaRPr>
          </a:p>
        </p:txBody>
      </p:sp>
      <p:sp>
        <p:nvSpPr>
          <p:cNvPr id="87" name=""/>
          <p:cNvSpPr/>
          <p:nvPr/>
        </p:nvSpPr>
        <p:spPr>
          <a:xfrm>
            <a:off x="1828800" y="5257800"/>
            <a:ext cx="8915040" cy="485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E" sz="2600" b="0" u="none" strike="noStrike">
                <a:solidFill>
                  <a:srgbClr val="C9211E"/>
                </a:solidFill>
                <a:effectLst/>
                <a:uFillTx/>
                <a:latin typeface="Arial"/>
              </a:rPr>
              <a:t>SKIP TO SLIDE 14 IF YOU WANT TO STICK TO THE GUI</a:t>
            </a:r>
            <a:endParaRPr lang="en-AE" sz="2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8" name="TextBox 9"/>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Install Warp</a:t>
            </a:r>
            <a:endParaRPr lang="en-AE" sz="2800" b="0" u="none" strike="noStrike">
              <a:solidFill>
                <a:srgbClr val="FFFFFF"/>
              </a:solidFill>
              <a:effectLst/>
              <a:uFillTx/>
              <a:latin typeface="Arial"/>
            </a:endParaRPr>
          </a:p>
        </p:txBody>
      </p:sp>
      <p:sp>
        <p:nvSpPr>
          <p:cNvPr id="89" name="Rectangle 5"/>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0" name="TextBox 10"/>
          <p:cNvSpPr/>
          <p:nvPr/>
        </p:nvSpPr>
        <p:spPr>
          <a:xfrm>
            <a:off x="731520" y="1645920"/>
            <a:ext cx="1072728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199"/>
              </a:spcAft>
            </a:pPr>
            <a:r>
              <a:rPr lang="en-US" sz="1300" b="0" u="none" strike="noStrike">
                <a:solidFill>
                  <a:srgbClr val="E0E0E0"/>
                </a:solidFill>
                <a:effectLst/>
                <a:uFillTx/>
                <a:latin typeface="Lato"/>
              </a:rPr>
              <a:t>We would like to interact with Claude in an environment it’s purpose-built for. Text-only.</a:t>
            </a:r>
            <a:endParaRPr lang="en-AE" sz="1300" b="0" u="none" strike="noStrike">
              <a:solidFill>
                <a:srgbClr val="FFFFFF"/>
              </a:solidFill>
              <a:effectLst/>
              <a:uFillTx/>
              <a:latin typeface="Arial"/>
            </a:endParaRPr>
          </a:p>
          <a:p>
            <a:pPr defTabSz="457200">
              <a:lnSpc>
                <a:spcPct val="100000"/>
              </a:lnSpc>
              <a:spcAft>
                <a:spcPts val="1199"/>
              </a:spcAft>
            </a:pPr>
            <a:r>
              <a:rPr lang="en-US" sz="1300" b="0" u="none" strike="noStrike">
                <a:solidFill>
                  <a:srgbClr val="E0E0E0"/>
                </a:solidFill>
                <a:effectLst/>
                <a:uFillTx/>
                <a:latin typeface="Lato"/>
              </a:rPr>
              <a:t>You need a text-only tool.</a:t>
            </a:r>
            <a:br>
              <a:rPr sz="1300"/>
            </a:br>
            <a:r>
              <a:rPr lang="en-US" sz="1300" b="0" u="none" strike="noStrike">
                <a:solidFill>
                  <a:srgbClr val="E0E0E0"/>
                </a:solidFill>
                <a:effectLst/>
                <a:uFillTx/>
                <a:latin typeface="Lato"/>
              </a:rPr>
              <a:t>Your laptop comes with one – it’s called “Terminal” and you’ll often see this setup referred to as “Claude Code on Terminal”.</a:t>
            </a:r>
            <a:endParaRPr lang="en-AE" sz="1300" b="0" u="none" strike="noStrike">
              <a:solidFill>
                <a:srgbClr val="FFFFFF"/>
              </a:solidFill>
              <a:effectLst/>
              <a:uFillTx/>
              <a:latin typeface="Arial"/>
            </a:endParaRPr>
          </a:p>
          <a:p>
            <a:pPr defTabSz="457200">
              <a:lnSpc>
                <a:spcPct val="100000"/>
              </a:lnSpc>
              <a:spcAft>
                <a:spcPts val="1199"/>
              </a:spcAft>
            </a:pPr>
            <a:r>
              <a:rPr lang="en-US" sz="1300" b="0" u="none" strike="noStrike">
                <a:solidFill>
                  <a:srgbClr val="E0E0E0"/>
                </a:solidFill>
                <a:effectLst/>
                <a:uFillTx/>
                <a:latin typeface="Lato"/>
              </a:rPr>
              <a:t>But the default terminal is a bit hard to use, </a:t>
            </a:r>
            <a:br>
              <a:rPr sz="1300"/>
            </a:br>
            <a:r>
              <a:rPr lang="en-US" sz="1300" b="0" u="none" strike="noStrike">
                <a:solidFill>
                  <a:srgbClr val="E0E0E0"/>
                </a:solidFill>
                <a:effectLst/>
                <a:uFillTx/>
                <a:latin typeface="Lato"/>
              </a:rPr>
              <a:t>so we’ll use Warp instead</a:t>
            </a:r>
            <a:br>
              <a:rPr sz="1300"/>
            </a:br>
            <a:br>
              <a:rPr sz="1300"/>
            </a:br>
            <a:br>
              <a:rPr sz="1300"/>
            </a:br>
            <a:r>
              <a:rPr lang="en-US" sz="1300" b="1" u="none" strike="noStrike">
                <a:solidFill>
                  <a:srgbClr val="4A90D9"/>
                </a:solidFill>
                <a:effectLst/>
                <a:uFillTx/>
                <a:latin typeface="Lato"/>
              </a:rPr>
              <a:t>1.  </a:t>
            </a:r>
            <a:r>
              <a:rPr lang="en-US" sz="1300" b="0" u="none" strike="noStrike">
                <a:solidFill>
                  <a:srgbClr val="E0E0E0"/>
                </a:solidFill>
                <a:effectLst/>
                <a:uFillTx/>
                <a:latin typeface="Lato"/>
              </a:rPr>
              <a:t>Go to warp.dev and click Download (we will need it to paste commands to our PC)</a:t>
            </a:r>
            <a:endParaRPr lang="en-AE" sz="1300" b="0" u="none" strike="noStrike">
              <a:solidFill>
                <a:srgbClr val="FFFFFF"/>
              </a:solidFill>
              <a:effectLst/>
              <a:uFillTx/>
              <a:latin typeface="Arial"/>
            </a:endParaRPr>
          </a:p>
          <a:p>
            <a:pPr defTabSz="457200">
              <a:lnSpc>
                <a:spcPct val="100000"/>
              </a:lnSpc>
              <a:spcAft>
                <a:spcPts val="1199"/>
              </a:spcAft>
            </a:pPr>
            <a:r>
              <a:rPr lang="en-US" sz="1300" b="1" u="none" strike="noStrike">
                <a:solidFill>
                  <a:srgbClr val="4A90D9"/>
                </a:solidFill>
                <a:effectLst/>
                <a:uFillTx/>
                <a:latin typeface="Lato"/>
              </a:rPr>
              <a:t>2.  </a:t>
            </a:r>
            <a:r>
              <a:rPr lang="en-US" sz="1300" b="0" u="none" strike="noStrike">
                <a:solidFill>
                  <a:srgbClr val="E0E0E0"/>
                </a:solidFill>
                <a:effectLst/>
                <a:uFillTx/>
                <a:latin typeface="Lato"/>
              </a:rPr>
              <a:t>Open the downloaded file and follow the install prompts. Opt for default, agent-less mode</a:t>
            </a:r>
            <a:endParaRPr lang="en-AE" sz="1300" b="0" u="none" strike="noStrike">
              <a:solidFill>
                <a:srgbClr val="FFFFFF"/>
              </a:solidFill>
              <a:effectLst/>
              <a:uFillTx/>
              <a:latin typeface="Arial"/>
            </a:endParaRPr>
          </a:p>
          <a:p>
            <a:pPr defTabSz="457200">
              <a:lnSpc>
                <a:spcPct val="100000"/>
              </a:lnSpc>
              <a:spcAft>
                <a:spcPts val="1199"/>
              </a:spcAft>
            </a:pPr>
            <a:r>
              <a:rPr lang="en-US" sz="1300" b="1" u="none" strike="noStrike">
                <a:solidFill>
                  <a:srgbClr val="4A90D9"/>
                </a:solidFill>
                <a:effectLst/>
                <a:uFillTx/>
                <a:latin typeface="Lato"/>
                <a:ea typeface="Noto Sans SC"/>
              </a:rPr>
              <a:t>3.  </a:t>
            </a:r>
            <a:r>
              <a:rPr lang="en-US" sz="1300" b="0" u="none" strike="noStrike">
                <a:solidFill>
                  <a:srgbClr val="E0E0E0"/>
                </a:solidFill>
                <a:effectLst/>
                <a:uFillTx/>
                <a:latin typeface="Lato"/>
                <a:ea typeface="Noto Sans SC"/>
              </a:rPr>
              <a:t>Open Warp — you should see a dark window with a text box at the bottom</a:t>
            </a:r>
            <a:br>
              <a:rPr sz="1300"/>
            </a:br>
            <a:br>
              <a:rPr sz="1300"/>
            </a:br>
            <a:r>
              <a:rPr lang="en-US" sz="1300" b="1" u="none" strike="noStrike">
                <a:solidFill>
                  <a:srgbClr val="4A90D9"/>
                </a:solidFill>
                <a:effectLst/>
                <a:uFillTx/>
                <a:latin typeface="Lato"/>
                <a:ea typeface="Noto Sans SC"/>
              </a:rPr>
              <a:t>4.  </a:t>
            </a:r>
            <a:r>
              <a:rPr lang="en-US" sz="1300" b="0" u="none" strike="noStrike">
                <a:solidFill>
                  <a:srgbClr val="E0E0E0"/>
                </a:solidFill>
                <a:effectLst/>
                <a:uFillTx/>
                <a:latin typeface="Lato"/>
                <a:ea typeface="Noto Sans SC"/>
              </a:rPr>
              <a:t>If it launches, great. We’ll install Claude code for terminal and then come back here.</a:t>
            </a:r>
            <a:endParaRPr lang="en-AE" sz="1300" b="0" u="none" strike="noStrike">
              <a:solidFill>
                <a:srgbClr val="FFFFFF"/>
              </a:solidFill>
              <a:effectLst/>
              <a:uFillTx/>
              <a:latin typeface="Arial"/>
            </a:endParaRPr>
          </a:p>
        </p:txBody>
      </p:sp>
      <p:pic>
        <p:nvPicPr>
          <p:cNvPr id="91" name=""/>
          <p:cNvPicPr/>
          <p:nvPr/>
        </p:nvPicPr>
        <p:blipFill>
          <a:blip r:embed="rId1"/>
          <a:stretch/>
        </p:blipFill>
        <p:spPr>
          <a:xfrm>
            <a:off x="8686800" y="2743200"/>
            <a:ext cx="3199320" cy="28731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2" name="TextBox 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Copy This Prompt into the “Code” Tab (not Cowork)</a:t>
            </a:r>
            <a:endParaRPr lang="en-AE" sz="2800" b="0" u="none" strike="noStrike">
              <a:solidFill>
                <a:srgbClr val="FFFFFF"/>
              </a:solidFill>
              <a:effectLst/>
              <a:uFillTx/>
              <a:latin typeface="Arial"/>
            </a:endParaRPr>
          </a:p>
        </p:txBody>
      </p:sp>
      <p:sp>
        <p:nvSpPr>
          <p:cNvPr id="93" name="Rounded Rectangle 2"/>
          <p:cNvSpPr/>
          <p:nvPr/>
        </p:nvSpPr>
        <p:spPr>
          <a:xfrm>
            <a:off x="640080" y="914400"/>
            <a:ext cx="10910160" cy="2971440"/>
          </a:xfrm>
          <a:prstGeom prst="roundRect">
            <a:avLst>
              <a:gd name="adj" fmla="val 2000"/>
            </a:avLst>
          </a:prstGeom>
          <a:solidFill>
            <a:srgbClr val="1621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 name="TextBox 3"/>
          <p:cNvSpPr/>
          <p:nvPr/>
        </p:nvSpPr>
        <p:spPr>
          <a:xfrm>
            <a:off x="885240" y="915480"/>
            <a:ext cx="10544400" cy="45705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Bef>
                <a:spcPts val="1191"/>
              </a:spcBef>
              <a:spcAft>
                <a:spcPts val="992"/>
              </a:spcAft>
            </a:pPr>
            <a:r>
              <a:rPr lang="en-US" sz="1400" b="0" u="none" strike="noStrike">
                <a:solidFill>
                  <a:srgbClr val="E0E0E0"/>
                </a:solidFill>
                <a:effectLst/>
                <a:uFillTx/>
                <a:latin typeface="Consolas"/>
                <a:ea typeface="Noto Sans SC"/>
              </a:rPr>
              <a:t>I need you to install Claude Code so I can use it via command line. </a:t>
            </a:r>
            <a:br>
              <a:rPr sz="1400"/>
            </a:br>
            <a:r>
              <a:rPr lang="en-US" sz="1400" b="0" u="none" strike="noStrike">
                <a:solidFill>
                  <a:srgbClr val="E0E0E0"/>
                </a:solidFill>
                <a:effectLst/>
                <a:uFillTx/>
                <a:latin typeface="Consolas"/>
                <a:ea typeface="Noto Sans SC"/>
              </a:rPr>
              <a:t>I’m using warp.dev (not native terminal / PowerShell).</a:t>
            </a:r>
            <a:br>
              <a:rPr sz="1400"/>
            </a:br>
            <a:r>
              <a:rPr lang="en-US" sz="1400" b="0" u="none" strike="noStrike">
                <a:solidFill>
                  <a:srgbClr val="E0E0E0"/>
                </a:solidFill>
                <a:effectLst/>
                <a:uFillTx/>
                <a:latin typeface="Consolas"/>
                <a:ea typeface="Noto Sans SC"/>
              </a:rPr>
              <a:t>Detect my operating system, install everything that is needed (including Node.js etc if missing), and walk me through each step one at a time. If some installations are needed, just do them. Do not ask me to run bash commands. You can do it, do it. Only ask me to do anything if it’s literally impossible for you to run the command yourself. </a:t>
            </a:r>
            <a:br>
              <a:rPr sz="1400"/>
            </a:br>
            <a:br>
              <a:rPr sz="1400"/>
            </a:br>
            <a:r>
              <a:rPr lang="en-US" sz="1400" b="0" u="none" strike="noStrike">
                <a:solidFill>
                  <a:srgbClr val="E0E0E0"/>
                </a:solidFill>
                <a:effectLst/>
                <a:uFillTx/>
                <a:latin typeface="Consolas"/>
                <a:ea typeface="Noto Sans SC"/>
              </a:rPr>
              <a:t>If you do ask me to run a command, be extremely precise in what you want me to launch, run, do etc. </a:t>
            </a:r>
            <a:endParaRPr lang="en-AE" sz="1400" b="0" u="none" strike="noStrike">
              <a:solidFill>
                <a:srgbClr val="FFFFFF"/>
              </a:solidFill>
              <a:effectLst/>
              <a:uFillTx/>
              <a:latin typeface="Arial"/>
            </a:endParaRPr>
          </a:p>
          <a:p>
            <a:pPr defTabSz="457200">
              <a:lnSpc>
                <a:spcPct val="100000"/>
              </a:lnSpc>
              <a:spcBef>
                <a:spcPts val="1191"/>
              </a:spcBef>
              <a:spcAft>
                <a:spcPts val="992"/>
              </a:spcAft>
            </a:pPr>
            <a:r>
              <a:rPr lang="en-US" sz="1400" b="0" u="none" strike="noStrike">
                <a:solidFill>
                  <a:srgbClr val="E0E0E0"/>
                </a:solidFill>
                <a:effectLst/>
                <a:uFillTx/>
                <a:latin typeface="Consolas"/>
                <a:ea typeface="Noto Sans SC"/>
              </a:rPr>
              <a:t>Keep in mind I want to launch Claude CLI on warp.dev (not native terminal), it might add its own pathing issues. In general, I anticipate endless pathing issues (particularly on windows). Do not even think about telling me you are done without verifying that typing "claude" in warp while working in any directory will launch claude cli without issues.</a:t>
            </a:r>
            <a:endParaRPr lang="en-AE" sz="1400" b="0" u="none" strike="noStrike">
              <a:solidFill>
                <a:srgbClr val="FFFFFF"/>
              </a:solidFill>
              <a:effectLst/>
              <a:uFillTx/>
              <a:latin typeface="Arial"/>
            </a:endParaRPr>
          </a:p>
        </p:txBody>
      </p:sp>
      <p:sp>
        <p:nvSpPr>
          <p:cNvPr id="95" name=""/>
          <p:cNvSpPr/>
          <p:nvPr/>
        </p:nvSpPr>
        <p:spPr>
          <a:xfrm>
            <a:off x="686160" y="5304600"/>
            <a:ext cx="4571280" cy="638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E" sz="1800" b="0" u="none" strike="noStrike">
                <a:solidFill>
                  <a:srgbClr val="FFFFFF"/>
                </a:solidFill>
                <a:effectLst/>
                <a:uFillTx/>
                <a:latin typeface="Arial"/>
              </a:rPr>
              <a:t>You will be prompted to click “Yes” a few times. Just do it.</a:t>
            </a:r>
            <a:endParaRPr lang="en-AE" sz="1800" b="0" u="none" strike="noStrike">
              <a:solidFill>
                <a:srgbClr val="FFFFFF"/>
              </a:solidFill>
              <a:effectLst/>
              <a:uFillTx/>
              <a:latin typeface="Arial"/>
            </a:endParaRPr>
          </a:p>
        </p:txBody>
      </p:sp>
      <p:pic>
        <p:nvPicPr>
          <p:cNvPr id="96" name=""/>
          <p:cNvPicPr/>
          <p:nvPr/>
        </p:nvPicPr>
        <p:blipFill>
          <a:blip r:embed="rId1"/>
          <a:stretch/>
        </p:blipFill>
        <p:spPr>
          <a:xfrm>
            <a:off x="5715000" y="4343400"/>
            <a:ext cx="5943240" cy="20088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7" name="TextBox 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Launch CLI</a:t>
            </a:r>
            <a:endParaRPr lang="en-AE" sz="2800" b="0" u="none" strike="noStrike">
              <a:solidFill>
                <a:srgbClr val="FFFFFF"/>
              </a:solidFill>
              <a:effectLst/>
              <a:uFillTx/>
              <a:latin typeface="Arial"/>
            </a:endParaRPr>
          </a:p>
        </p:txBody>
      </p:sp>
      <p:sp>
        <p:nvSpPr>
          <p:cNvPr id="98" name="Rectangle 2"/>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9" name="TextBox 3"/>
          <p:cNvSpPr/>
          <p:nvPr/>
        </p:nvSpPr>
        <p:spPr>
          <a:xfrm>
            <a:off x="731520" y="1645920"/>
            <a:ext cx="1072728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001"/>
              </a:spcAft>
            </a:pPr>
            <a:r>
              <a:rPr lang="en-US" sz="1800" b="0" u="none" strike="noStrike">
                <a:solidFill>
                  <a:srgbClr val="E0E0E0"/>
                </a:solidFill>
                <a:effectLst/>
                <a:uFillTx/>
                <a:latin typeface="Lato"/>
                <a:ea typeface="Noto Sans SC"/>
              </a:rPr>
              <a:t>•  Follow each step </a:t>
            </a:r>
            <a:r>
              <a:rPr lang="en-US" sz="1800" b="1" u="none" strike="noStrike">
                <a:solidFill>
                  <a:srgbClr val="4A90D9"/>
                </a:solidFill>
                <a:effectLst/>
                <a:uFillTx/>
                <a:latin typeface="Lato"/>
                <a:ea typeface="Noto Sans SC"/>
              </a:rPr>
              <a:t>Claude Desktop </a:t>
            </a:r>
            <a:r>
              <a:rPr lang="en-US" sz="1800" b="0" u="none" strike="noStrike">
                <a:solidFill>
                  <a:srgbClr val="E0E0E0"/>
                </a:solidFill>
                <a:effectLst/>
                <a:uFillTx/>
                <a:latin typeface="Lato"/>
                <a:ea typeface="Noto Sans SC"/>
              </a:rPr>
              <a:t>gives you — if anything fails, paste the error back and ask Claude to help (typically more painful on Windows than on Mac, but struggle through it and try to follow its instructions – it’s good practice for where we’re going)</a:t>
            </a:r>
            <a:br>
              <a:rPr sz="1800"/>
            </a:br>
            <a:endParaRPr lang="en-AE" sz="1800" b="0" u="none" strike="noStrike">
              <a:solidFill>
                <a:srgbClr val="FFFFFF"/>
              </a:solidFill>
              <a:effectLst/>
              <a:uFillTx/>
              <a:latin typeface="Arial"/>
            </a:endParaRPr>
          </a:p>
          <a:p>
            <a:pPr defTabSz="457200">
              <a:lnSpc>
                <a:spcPct val="100000"/>
              </a:lnSpc>
              <a:spcAft>
                <a:spcPts val="1001"/>
              </a:spcAft>
            </a:pPr>
            <a:r>
              <a:rPr lang="en-US" sz="1800" b="0" u="none" strike="noStrike">
                <a:solidFill>
                  <a:srgbClr val="E0E0E0"/>
                </a:solidFill>
                <a:effectLst/>
                <a:uFillTx/>
                <a:latin typeface="Lato"/>
                <a:ea typeface="Noto Sans SC"/>
              </a:rPr>
              <a:t>•  When done: open </a:t>
            </a:r>
            <a:r>
              <a:rPr lang="en-US" sz="1800" b="1" u="none" strike="noStrike">
                <a:solidFill>
                  <a:srgbClr val="4A90D9"/>
                </a:solidFill>
                <a:effectLst/>
                <a:uFillTx/>
                <a:latin typeface="Lato"/>
                <a:ea typeface="Noto Sans SC"/>
              </a:rPr>
              <a:t>Warp</a:t>
            </a:r>
            <a:r>
              <a:rPr lang="en-US" sz="1800" b="0" u="none" strike="noStrike">
                <a:solidFill>
                  <a:srgbClr val="E0E0E0"/>
                </a:solidFill>
                <a:effectLst/>
                <a:uFillTx/>
                <a:latin typeface="Lato"/>
                <a:ea typeface="Noto Sans SC"/>
              </a:rPr>
              <a:t>, type `claude`, press </a:t>
            </a:r>
            <a:r>
              <a:rPr lang="en-US" sz="1800" b="1" u="none" strike="noStrike">
                <a:solidFill>
                  <a:srgbClr val="4A90D9"/>
                </a:solidFill>
                <a:effectLst/>
                <a:uFillTx/>
                <a:latin typeface="Lato"/>
                <a:ea typeface="Noto Sans SC"/>
              </a:rPr>
              <a:t>Enter</a:t>
            </a:r>
            <a:r>
              <a:rPr lang="en-US" sz="1800" b="0" u="none" strike="noStrike">
                <a:solidFill>
                  <a:srgbClr val="E0E0E0"/>
                </a:solidFill>
                <a:effectLst/>
                <a:uFillTx/>
                <a:latin typeface="Lato"/>
                <a:ea typeface="Noto Sans SC"/>
              </a:rPr>
              <a:t> — you should see a welcome message.</a:t>
            </a:r>
            <a:br>
              <a:rPr sz="1800"/>
            </a:br>
            <a:endParaRPr lang="en-AE" sz="1800" b="0" u="none" strike="noStrike">
              <a:solidFill>
                <a:srgbClr val="FFFFFF"/>
              </a:solidFill>
              <a:effectLst/>
              <a:uFillTx/>
              <a:latin typeface="Arial"/>
            </a:endParaRPr>
          </a:p>
          <a:p>
            <a:pPr defTabSz="457200">
              <a:lnSpc>
                <a:spcPct val="100000"/>
              </a:lnSpc>
              <a:spcAft>
                <a:spcPts val="1001"/>
              </a:spcAft>
            </a:pPr>
            <a:r>
              <a:rPr lang="en-US" sz="1800" b="0" u="none" strike="noStrike">
                <a:solidFill>
                  <a:srgbClr val="E0E0E0"/>
                </a:solidFill>
                <a:effectLst/>
                <a:uFillTx/>
                <a:latin typeface="Lato"/>
                <a:ea typeface="Noto Sans SC"/>
              </a:rPr>
              <a:t>•  If it asks you to sign in, follow the prompts — it opens your browser</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0" name="TextBox 2"/>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Troubleshooting</a:t>
            </a:r>
            <a:endParaRPr lang="en-AE" sz="2800" b="0" u="none" strike="noStrike">
              <a:solidFill>
                <a:srgbClr val="FFFFFF"/>
              </a:solidFill>
              <a:effectLst/>
              <a:uFillTx/>
              <a:latin typeface="Arial"/>
            </a:endParaRPr>
          </a:p>
        </p:txBody>
      </p:sp>
      <p:graphicFrame>
        <p:nvGraphicFramePr>
          <p:cNvPr id="101" name="Table 1"/>
          <p:cNvGraphicFramePr/>
          <p:nvPr/>
        </p:nvGraphicFramePr>
        <p:xfrm>
          <a:off x="731520" y="1645920"/>
          <a:ext cx="10727640" cy="2514960"/>
        </p:xfrm>
        <a:graphic>
          <a:graphicData uri="http://schemas.openxmlformats.org/drawingml/2006/table">
            <a:tbl>
              <a:tblPr/>
              <a:tblGrid>
                <a:gridCol w="5364000"/>
                <a:gridCol w="5364000"/>
              </a:tblGrid>
              <a:tr h="411480">
                <a:tc>
                  <a:txBody>
                    <a:bodyPr anchor="t">
                      <a:noAutofit/>
                    </a:bodyPr>
                    <a:p>
                      <a:pPr defTabSz="457200">
                        <a:lnSpc>
                          <a:spcPct val="100000"/>
                        </a:lnSpc>
                      </a:pPr>
                      <a:r>
                        <a:rPr lang="en-US" sz="1400" b="1" u="none" strike="noStrike">
                          <a:solidFill>
                            <a:srgbClr val="FFFFFF"/>
                          </a:solidFill>
                          <a:effectLst/>
                          <a:uFillTx/>
                          <a:latin typeface="Lato"/>
                        </a:rPr>
                        <a:t>Problem</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nchor="t">
                      <a:noAutofit/>
                    </a:bodyPr>
                    <a:p>
                      <a:pPr defTabSz="457200">
                        <a:lnSpc>
                          <a:spcPct val="100000"/>
                        </a:lnSpc>
                      </a:pPr>
                      <a:r>
                        <a:rPr lang="en-US" sz="1400" b="1" u="none" strike="noStrike">
                          <a:solidFill>
                            <a:srgbClr val="FFFFFF"/>
                          </a:solidFill>
                          <a:effectLst/>
                          <a:uFillTx/>
                          <a:latin typeface="Lato"/>
                        </a:rPr>
                        <a:t>What to do</a:t>
                      </a:r>
                      <a:endParaRPr lang="en-AE"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`claude: command not found`</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defTabSz="457200">
                        <a:lnSpc>
                          <a:spcPct val="100000"/>
                        </a:lnSpc>
                      </a:pPr>
                      <a:r>
                        <a:rPr lang="en-US" sz="1200" b="0" u="none" strike="noStrike">
                          <a:solidFill>
                            <a:srgbClr val="E0E0E0"/>
                          </a:solidFill>
                          <a:effectLst/>
                          <a:uFillTx/>
                          <a:latin typeface="Lato"/>
                        </a:rPr>
                        <a:t>Close Warp completely, reopen it, try again</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`npm: command not found` or `Permission denied`</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Paste the exact error into Claude Desktop and ask what to do</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Can't sign in to Claude</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defTabSz="457200">
                        <a:lnSpc>
                          <a:spcPct val="100000"/>
                        </a:lnSpc>
                      </a:pPr>
                      <a:r>
                        <a:rPr lang="en-US" sz="1200" b="0" u="none" strike="noStrike">
                          <a:solidFill>
                            <a:srgbClr val="E0E0E0"/>
                          </a:solidFill>
                          <a:effectLst/>
                          <a:uFillTx/>
                          <a:latin typeface="Lato"/>
                        </a:rPr>
                        <a:t>Make sure you have an active Pro or Max subscription at claude.ai</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Warp not installed</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nchor="t">
                      <a:noAutofit/>
                    </a:bodyPr>
                    <a:p>
                      <a:pPr defTabSz="457200">
                        <a:lnSpc>
                          <a:spcPct val="100000"/>
                        </a:lnSpc>
                      </a:pPr>
                      <a:r>
                        <a:rPr lang="en-US" sz="1200" b="0" u="none" strike="noStrike">
                          <a:solidFill>
                            <a:srgbClr val="E0E0E0"/>
                          </a:solidFill>
                          <a:effectLst/>
                          <a:uFillTx/>
                          <a:latin typeface="Lato"/>
                        </a:rPr>
                        <a:t>Download free from warp.dev</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r>
              <a:tr h="411480">
                <a:tc>
                  <a:txBody>
                    <a:bodyPr anchor="t">
                      <a:noAutofit/>
                    </a:bodyPr>
                    <a:p>
                      <a:pPr defTabSz="457200">
                        <a:lnSpc>
                          <a:spcPct val="100000"/>
                        </a:lnSpc>
                      </a:pPr>
                      <a:r>
                        <a:rPr lang="en-US" sz="1200" b="0" u="none" strike="noStrike">
                          <a:solidFill>
                            <a:srgbClr val="E0E0E0"/>
                          </a:solidFill>
                          <a:effectLst/>
                          <a:uFillTx/>
                          <a:latin typeface="Lato"/>
                        </a:rPr>
                        <a:t>Tried everything, still stuck</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nchor="t">
                      <a:noAutofit/>
                    </a:bodyPr>
                    <a:p>
                      <a:pPr defTabSz="457200">
                        <a:lnSpc>
                          <a:spcPct val="100000"/>
                        </a:lnSpc>
                      </a:pPr>
                      <a:r>
                        <a:rPr lang="en-US" sz="1200" b="0" u="none" strike="noStrike">
                          <a:solidFill>
                            <a:srgbClr val="E0E0E0"/>
                          </a:solidFill>
                          <a:effectLst/>
                          <a:uFillTx/>
                          <a:latin typeface="Lato"/>
                        </a:rPr>
                        <a:t>Screenshot the error and message #d-ai-learning-pod. </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I will figure it out.</a:t>
                      </a:r>
                      <a:endParaRPr lang="en-AE"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2" name="TextBox 1"/>
          <p:cNvSpPr/>
          <p:nvPr/>
        </p:nvSpPr>
        <p:spPr>
          <a:xfrm>
            <a:off x="914400" y="2560320"/>
            <a:ext cx="1036152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FFFFFF"/>
                </a:solidFill>
                <a:effectLst/>
                <a:uFillTx/>
                <a:latin typeface="Lato"/>
              </a:rPr>
              <a:t>Step 2: Create a GitHub Account</a:t>
            </a:r>
            <a:endParaRPr lang="en-AE" sz="3200" b="0" u="none" strike="noStrike">
              <a:solidFill>
                <a:srgbClr val="FFFFFF"/>
              </a:solidFill>
              <a:effectLst/>
              <a:uFillTx/>
              <a:latin typeface="Arial"/>
            </a:endParaRPr>
          </a:p>
        </p:txBody>
      </p:sp>
      <p:sp>
        <p:nvSpPr>
          <p:cNvPr id="103" name="Rectangle 2"/>
          <p:cNvSpPr/>
          <p:nvPr/>
        </p:nvSpPr>
        <p:spPr>
          <a:xfrm>
            <a:off x="4724280" y="4114800"/>
            <a:ext cx="27417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4" name=""/>
          <p:cNvSpPr/>
          <p:nvPr/>
        </p:nvSpPr>
        <p:spPr>
          <a:xfrm>
            <a:off x="4800600" y="3657600"/>
            <a:ext cx="2496600" cy="3639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E" sz="1800" b="0" i="1" u="none" strike="noStrike">
                <a:solidFill>
                  <a:srgbClr val="FFFFFF"/>
                </a:solidFill>
                <a:effectLst/>
                <a:uFillTx/>
                <a:latin typeface="Arial"/>
              </a:rPr>
              <a:t>Takes approx 5-10 min</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5" name="TextBox 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What is GitHub?</a:t>
            </a:r>
            <a:endParaRPr lang="en-AE" sz="2800" b="0" u="none" strike="noStrike">
              <a:solidFill>
                <a:srgbClr val="FFFFFF"/>
              </a:solidFill>
              <a:effectLst/>
              <a:uFillTx/>
              <a:latin typeface="Arial"/>
            </a:endParaRPr>
          </a:p>
        </p:txBody>
      </p:sp>
      <p:sp>
        <p:nvSpPr>
          <p:cNvPr id="106" name="Rectangle 2"/>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7" name="TextBox 3"/>
          <p:cNvSpPr/>
          <p:nvPr/>
        </p:nvSpPr>
        <p:spPr>
          <a:xfrm>
            <a:off x="731520" y="1645920"/>
            <a:ext cx="1072728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001"/>
              </a:spcAft>
            </a:pPr>
            <a:r>
              <a:rPr lang="en-US" sz="1800" b="1" u="none" strike="noStrike">
                <a:solidFill>
                  <a:srgbClr val="4A90D9"/>
                </a:solidFill>
                <a:effectLst/>
                <a:uFillTx/>
                <a:latin typeface="Lato"/>
              </a:rPr>
              <a:t>•  Think of it like Google Drive, but for code</a:t>
            </a:r>
            <a:r>
              <a:rPr lang="en-US" sz="1800" b="0" u="none" strike="noStrike">
                <a:solidFill>
                  <a:srgbClr val="E0E0E0"/>
                </a:solidFill>
                <a:effectLst/>
                <a:uFillTx/>
                <a:latin typeface="Lato"/>
              </a:rPr>
              <a:t> — it's where all course materials live and where your Claude projects will get saved</a:t>
            </a:r>
            <a:endParaRPr lang="en-AE" sz="1800" b="0" u="none" strike="noStrike">
              <a:solidFill>
                <a:srgbClr val="FFFFFF"/>
              </a:solidFill>
              <a:effectLst/>
              <a:uFillTx/>
              <a:latin typeface="Arial"/>
            </a:endParaRPr>
          </a:p>
          <a:p>
            <a:pPr defTabSz="457200">
              <a:lnSpc>
                <a:spcPct val="100000"/>
              </a:lnSpc>
              <a:spcAft>
                <a:spcPts val="1001"/>
              </a:spcAft>
            </a:pPr>
            <a:r>
              <a:rPr lang="en-US" sz="1800" b="1" u="none" strike="noStrike">
                <a:solidFill>
                  <a:srgbClr val="4A90D9"/>
                </a:solidFill>
                <a:effectLst/>
                <a:uFillTx/>
                <a:latin typeface="Lato"/>
              </a:rPr>
              <a:t>•  It remembers every version, forever</a:t>
            </a:r>
            <a:r>
              <a:rPr lang="en-US" sz="1800" b="0" u="none" strike="noStrike">
                <a:solidFill>
                  <a:srgbClr val="E0E0E0"/>
                </a:solidFill>
                <a:effectLst/>
                <a:uFillTx/>
                <a:latin typeface="Lato"/>
              </a:rPr>
              <a:t> — unlike Word which overwrites your file each time you save, GitHub keeps the full history so you can always roll back if something breaks</a:t>
            </a:r>
            <a:endParaRPr lang="en-AE" sz="1800" b="0" u="none" strike="noStrike">
              <a:solidFill>
                <a:srgbClr val="FFFFFF"/>
              </a:solidFill>
              <a:effectLst/>
              <a:uFillTx/>
              <a:latin typeface="Arial"/>
            </a:endParaRPr>
          </a:p>
          <a:p>
            <a:pPr defTabSz="457200">
              <a:lnSpc>
                <a:spcPct val="100000"/>
              </a:lnSpc>
              <a:spcAft>
                <a:spcPts val="1001"/>
              </a:spcAft>
            </a:pPr>
            <a:r>
              <a:rPr lang="en-US" sz="1800" b="1" u="none" strike="noStrike">
                <a:solidFill>
                  <a:srgbClr val="4A90D9"/>
                </a:solidFill>
                <a:effectLst/>
                <a:uFillTx/>
                <a:latin typeface="Lato"/>
              </a:rPr>
              <a:t>•  It handles teamwork automatically</a:t>
            </a:r>
            <a:r>
              <a:rPr lang="en-US" sz="1800" b="0" u="none" strike="noStrike">
                <a:solidFill>
                  <a:srgbClr val="E0E0E0"/>
                </a:solidFill>
                <a:effectLst/>
                <a:uFillTx/>
                <a:latin typeface="Lato"/>
              </a:rPr>
              <a:t> — if two people edit different parts of the same project, GitHub merges the changes without them overwriting each other</a:t>
            </a:r>
            <a:endParaRPr lang="en-AE" sz="1800" b="0" u="none" strike="noStrike">
              <a:solidFill>
                <a:srgbClr val="FFFFFF"/>
              </a:solidFill>
              <a:effectLst/>
              <a:uFillTx/>
              <a:latin typeface="Arial"/>
            </a:endParaRPr>
          </a:p>
          <a:p>
            <a:pPr defTabSz="457200">
              <a:lnSpc>
                <a:spcPct val="100000"/>
              </a:lnSpc>
              <a:spcAft>
                <a:spcPts val="1001"/>
              </a:spcAft>
            </a:pPr>
            <a:r>
              <a:rPr lang="en-US" sz="1800" b="1" u="none" strike="noStrike">
                <a:solidFill>
                  <a:srgbClr val="4A90D9"/>
                </a:solidFill>
                <a:effectLst/>
                <a:uFillTx/>
                <a:latin typeface="Lato"/>
              </a:rPr>
              <a:t>•  You don't need to touch it directly</a:t>
            </a:r>
            <a:r>
              <a:rPr lang="en-US" sz="1800" b="0" u="none" strike="noStrike">
                <a:solidFill>
                  <a:srgbClr val="E0E0E0"/>
                </a:solidFill>
                <a:effectLst/>
                <a:uFillTx/>
                <a:latin typeface="Lato"/>
              </a:rPr>
              <a:t> — Claude Code manages all of this for you; you just need an account so your work saves to the right place</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8" name="TextBox 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How to Create Your Account</a:t>
            </a:r>
            <a:endParaRPr lang="en-AE" sz="2800" b="0" u="none" strike="noStrike">
              <a:solidFill>
                <a:srgbClr val="FFFFFF"/>
              </a:solidFill>
              <a:effectLst/>
              <a:uFillTx/>
              <a:latin typeface="Arial"/>
            </a:endParaRPr>
          </a:p>
        </p:txBody>
      </p:sp>
      <p:sp>
        <p:nvSpPr>
          <p:cNvPr id="109" name="Rectangle 2"/>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0" name="TextBox 3"/>
          <p:cNvSpPr/>
          <p:nvPr/>
        </p:nvSpPr>
        <p:spPr>
          <a:xfrm>
            <a:off x="731520" y="1645920"/>
            <a:ext cx="1072728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199"/>
              </a:spcAft>
            </a:pPr>
            <a:r>
              <a:rPr lang="en-US" sz="1800" b="1" u="none" strike="noStrike">
                <a:solidFill>
                  <a:srgbClr val="4A90D9"/>
                </a:solidFill>
                <a:effectLst/>
                <a:uFillTx/>
                <a:latin typeface="Lato"/>
              </a:rPr>
              <a:t>1.  </a:t>
            </a:r>
            <a:r>
              <a:rPr lang="en-US" sz="1800" b="0" u="none" strike="noStrike">
                <a:solidFill>
                  <a:srgbClr val="E0E0E0"/>
                </a:solidFill>
                <a:effectLst/>
                <a:uFillTx/>
                <a:latin typeface="Lato"/>
              </a:rPr>
              <a:t>Go to github.com in your browser</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2.  </a:t>
            </a:r>
            <a:r>
              <a:rPr lang="en-US" sz="1800" b="0" u="none" strike="noStrike">
                <a:solidFill>
                  <a:srgbClr val="E0E0E0"/>
                </a:solidFill>
                <a:effectLst/>
                <a:uFillTx/>
                <a:latin typeface="Lato"/>
              </a:rPr>
              <a:t>Click Sign Up</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3.  </a:t>
            </a:r>
            <a:r>
              <a:rPr lang="en-US" sz="1800" b="0" u="none" strike="noStrike">
                <a:solidFill>
                  <a:srgbClr val="E0E0E0"/>
                </a:solidFill>
                <a:effectLst/>
                <a:uFillTx/>
                <a:latin typeface="Lato"/>
              </a:rPr>
              <a:t>Use your @orennow.com email address</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4.  </a:t>
            </a:r>
            <a:r>
              <a:rPr lang="en-US" sz="1800" b="0" u="none" strike="noStrike">
                <a:solidFill>
                  <a:srgbClr val="E0E0E0"/>
                </a:solidFill>
                <a:effectLst/>
                <a:uFillTx/>
                <a:latin typeface="Lato"/>
              </a:rPr>
              <a:t>Pick a username — suggestion: your first name or `firstname-oren` (e.g., `ijaz-oren`)</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5.  </a:t>
            </a:r>
            <a:r>
              <a:rPr lang="en-US" sz="1800" b="0" u="none" strike="noStrike">
                <a:solidFill>
                  <a:srgbClr val="E0E0E0"/>
                </a:solidFill>
                <a:effectLst/>
                <a:uFillTx/>
                <a:latin typeface="Lato"/>
              </a:rPr>
              <a:t>Complete the verification steps (a simple puzzle, then click the link in your @orennow.com email)</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11" name="TextBox 1"/>
          <p:cNvSpPr/>
          <p:nvPr/>
        </p:nvSpPr>
        <p:spPr>
          <a:xfrm>
            <a:off x="731520" y="365760"/>
            <a:ext cx="10727280" cy="91296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pPr>
            <a:r>
              <a:rPr lang="en-US" sz="2800" b="1" u="none" strike="noStrike">
                <a:solidFill>
                  <a:srgbClr val="FFFFFF"/>
                </a:solidFill>
                <a:effectLst/>
                <a:uFillTx/>
                <a:latin typeface="Lato"/>
              </a:rPr>
              <a:t>What's Next?</a:t>
            </a:r>
            <a:endParaRPr lang="en-AE" sz="2800" b="0" u="none" strike="noStrike">
              <a:solidFill>
                <a:srgbClr val="FFFFFF"/>
              </a:solidFill>
              <a:effectLst/>
              <a:uFillTx/>
              <a:latin typeface="Arial"/>
            </a:endParaRPr>
          </a:p>
        </p:txBody>
      </p:sp>
      <p:sp>
        <p:nvSpPr>
          <p:cNvPr id="112" name="Rectangle 2"/>
          <p:cNvSpPr/>
          <p:nvPr/>
        </p:nvSpPr>
        <p:spPr>
          <a:xfrm>
            <a:off x="5181480" y="1325880"/>
            <a:ext cx="1827360" cy="53280"/>
          </a:xfrm>
          <a:prstGeom prst="rect">
            <a:avLst/>
          </a:prstGeom>
          <a:solidFill>
            <a:srgbClr val="4A90D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13" name="TextBox 3"/>
          <p:cNvSpPr/>
          <p:nvPr/>
        </p:nvSpPr>
        <p:spPr>
          <a:xfrm>
            <a:off x="731520" y="1645920"/>
            <a:ext cx="10727280" cy="47534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Aft>
                <a:spcPts val="1001"/>
              </a:spcAft>
            </a:pPr>
            <a:r>
              <a:rPr lang="en-US" sz="1800" b="0" u="none" strike="noStrike">
                <a:solidFill>
                  <a:srgbClr val="E0E0E0"/>
                </a:solidFill>
                <a:effectLst/>
                <a:uFillTx/>
                <a:latin typeface="Lato"/>
              </a:rPr>
              <a:t>See you at 6pm, 1</a:t>
            </a:r>
            <a:r>
              <a:rPr lang="en-US" sz="1800" b="0" u="none" strike="noStrike" baseline="33000">
                <a:solidFill>
                  <a:srgbClr val="E0E0E0"/>
                </a:solidFill>
                <a:effectLst/>
                <a:uFillTx/>
                <a:latin typeface="Lato"/>
              </a:rPr>
              <a:t>st</a:t>
            </a:r>
            <a:r>
              <a:rPr lang="en-US" sz="1800" b="0" u="none" strike="noStrike">
                <a:solidFill>
                  <a:srgbClr val="E0E0E0"/>
                </a:solidFill>
                <a:effectLst/>
                <a:uFillTx/>
                <a:latin typeface="Lato"/>
              </a:rPr>
              <a:t> April for </a:t>
            </a:r>
            <a:r>
              <a:rPr lang="en-US" sz="1800" b="1" u="none" strike="noStrike">
                <a:solidFill>
                  <a:srgbClr val="4A90D9"/>
                </a:solidFill>
                <a:effectLst/>
                <a:uFillTx/>
                <a:latin typeface="Lato"/>
              </a:rPr>
              <a:t>Pod 01 </a:t>
            </a:r>
            <a:endParaRPr lang="en-AE" sz="1800" b="0" u="none" strike="noStrike">
              <a:solidFill>
                <a:srgbClr val="FFFFFF"/>
              </a:solidFill>
              <a:effectLst/>
              <a:uFillTx/>
              <a:latin typeface="Arial"/>
            </a:endParaRPr>
          </a:p>
          <a:p>
            <a:pPr defTabSz="457200">
              <a:lnSpc>
                <a:spcPct val="100000"/>
              </a:lnSpc>
              <a:spcAft>
                <a:spcPts val="1001"/>
              </a:spcAft>
            </a:pPr>
            <a:r>
              <a:rPr lang="en-US" sz="1800" b="0" u="none" strike="noStrike">
                <a:solidFill>
                  <a:srgbClr val="E0E0E0"/>
                </a:solidFill>
                <a:effectLst/>
                <a:uFillTx/>
                <a:latin typeface="Lato"/>
              </a:rPr>
              <a:t>We will start working with Claude together.</a:t>
            </a:r>
            <a:endParaRPr lang="en-AE" sz="1800" b="0" u="none" strike="noStrike">
              <a:solidFill>
                <a:srgbClr val="FFFFFF"/>
              </a:solidFill>
              <a:effectLst/>
              <a:uFillTx/>
              <a:latin typeface="Arial"/>
            </a:endParaRPr>
          </a:p>
          <a:p>
            <a:pPr defTabSz="457200">
              <a:lnSpc>
                <a:spcPct val="100000"/>
              </a:lnSpc>
              <a:spcAft>
                <a:spcPts val="1001"/>
              </a:spcAft>
            </a:pPr>
            <a:endParaRPr lang="en-AE" sz="1800" b="0" u="none" strike="noStrike">
              <a:solidFill>
                <a:srgbClr val="FFFFFF"/>
              </a:solidFill>
              <a:effectLst/>
              <a:uFillTx/>
              <a:latin typeface="Arial"/>
            </a:endParaRPr>
          </a:p>
          <a:p>
            <a:pPr defTabSz="457200">
              <a:lnSpc>
                <a:spcPct val="100000"/>
              </a:lnSpc>
              <a:spcAft>
                <a:spcPts val="1001"/>
              </a:spcAft>
            </a:pPr>
            <a:r>
              <a:rPr lang="en-US" sz="1800" b="0" u="none" strike="noStrike">
                <a:solidFill>
                  <a:srgbClr val="E0E0E0"/>
                </a:solidFill>
                <a:effectLst/>
                <a:uFillTx/>
                <a:latin typeface="Lato"/>
              </a:rPr>
              <a:t>If you get stuck, message </a:t>
            </a:r>
            <a:r>
              <a:rPr lang="en-US" sz="1800" b="1" u="none" strike="noStrike">
                <a:solidFill>
                  <a:srgbClr val="4A90D9"/>
                </a:solidFill>
                <a:effectLst/>
                <a:uFillTx/>
                <a:latin typeface="Lato"/>
              </a:rPr>
              <a:t>#d-ai-learning-pod</a:t>
            </a:r>
            <a:r>
              <a:rPr lang="en-US" sz="1800" b="0" u="none" strike="noStrike">
                <a:solidFill>
                  <a:srgbClr val="E0E0E0"/>
                </a:solidFill>
                <a:effectLst/>
                <a:uFillTx/>
                <a:latin typeface="Lato"/>
              </a:rPr>
              <a:t> on Slack</a:t>
            </a:r>
            <a:endParaRPr lang="en-A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619</TotalTime>
  <Application>LibreOffice/26.2.1.2$Windows_X86_64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en-AE</dc:language>
  <cp:lastModifiedBy/>
  <dcterms:modified xsi:type="dcterms:W3CDTF">2026-03-27T13:33:55Z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